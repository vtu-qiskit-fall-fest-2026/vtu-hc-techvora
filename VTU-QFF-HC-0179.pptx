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1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6664" autoAdjust="0"/>
    <p:restoredTop sz="100000" autoAdjust="0"/>
  </p:normalViewPr>
  <p:slideViewPr>
    <p:cSldViewPr snapToGrid="0" snapToObjects="1">
      <p:cViewPr>
        <p:scale>
          <a:sx n="289" d="100"/>
          <a:sy n="289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&lt;#&gt;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4" name="Text box"/>
          <p:cNvSpPr>
            <a:spLocks noGrp="1"/>
          </p:cNvSpPr>
          <p:nvPr>
            <p:ph type="hdr"/>
          </p:nvPr>
        </p:nvSpPr>
        <p:spPr>
          <a:xfrm rot="0">
            <a:off x="0" y="0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5" name="Text box"/>
          <p:cNvSpPr>
            <a:spLocks noGrp="1"/>
          </p:cNvSpPr>
          <p:nvPr>
            <p:ph type="dt" idx="1"/>
          </p:nvPr>
        </p:nvSpPr>
        <p:spPr>
          <a:xfrm rot="0">
            <a:off x="2913063" y="0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Aptos" pitchFamily="0" charset="0"/>
                <a:ea typeface="等线" pitchFamily="0" charset="0"/>
                <a:cs typeface="Aptos" pitchFamily="0" charset="0"/>
              </a:rPr>
              <a:t>10/23/2026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6" name="Object"/>
          <p:cNvSpPr>
            <a:spLocks noGrp="1" noChangeAspect="1"/>
          </p:cNvSpPr>
          <p:nvPr>
            <p:ph type="sldImg" idx="2"/>
          </p:nvPr>
        </p:nvSpPr>
        <p:spPr>
          <a:xfrm rot="0">
            <a:off x="-171450" y="1143000"/>
            <a:ext cx="5486400" cy="30861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7" name="Text box"/>
          <p:cNvSpPr>
            <a:spLocks noGrp="1"/>
          </p:cNvSpPr>
          <p:nvPr>
            <p:ph type="body" idx="3"/>
          </p:nvPr>
        </p:nvSpPr>
        <p:spPr>
          <a:xfrm rot="0">
            <a:off x="514350" y="4400550"/>
            <a:ext cx="41148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333492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1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42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1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43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1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44" name="Object"/>
          <p:cNvSpPr>
            <a:spLocks noGrp="1" noChangeAspect="1"/>
          </p:cNvSpPr>
          <p:nvPr>
            <p:ph type="sldImg"/>
          </p:nvPr>
        </p:nvSpPr>
        <p:spPr>
          <a:xfrm rot="0">
            <a:off x="-17145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5" name="Text box"/>
          <p:cNvSpPr>
            <a:spLocks noGrp="1"/>
          </p:cNvSpPr>
          <p:nvPr>
            <p:ph type="body" idx="1"/>
          </p:nvPr>
        </p:nvSpPr>
        <p:spPr>
          <a:xfrm rot="0">
            <a:off x="514350" y="4400550"/>
            <a:ext cx="41148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46" name="Rectangle"/>
          <p:cNvSpPr>
            <a:spLocks noGrp="1"/>
          </p:cNvSpPr>
          <p:nvPr>
            <p:ph type="sldNum" idx="10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224595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2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76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2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77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2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78" name="Object"/>
          <p:cNvSpPr>
            <a:spLocks noGrp="1" noChangeAspect="1"/>
          </p:cNvSpPr>
          <p:nvPr>
            <p:ph type="sldImg"/>
          </p:nvPr>
        </p:nvSpPr>
        <p:spPr>
          <a:xfrm rot="0">
            <a:off x="-17145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9" name="Text box"/>
          <p:cNvSpPr>
            <a:spLocks noGrp="1"/>
          </p:cNvSpPr>
          <p:nvPr>
            <p:ph type="body" idx="1"/>
          </p:nvPr>
        </p:nvSpPr>
        <p:spPr>
          <a:xfrm rot="0">
            <a:off x="514350" y="4400550"/>
            <a:ext cx="41148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80" name="Rectangle"/>
          <p:cNvSpPr>
            <a:spLocks noGrp="1"/>
          </p:cNvSpPr>
          <p:nvPr>
            <p:ph type="sldNum" idx="10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983102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3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89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3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90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3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91" name="Object"/>
          <p:cNvSpPr>
            <a:spLocks noGrp="1" noChangeAspect="1"/>
          </p:cNvSpPr>
          <p:nvPr>
            <p:ph type="sldImg"/>
          </p:nvPr>
        </p:nvSpPr>
        <p:spPr>
          <a:xfrm rot="0">
            <a:off x="-17145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2" name="Text box"/>
          <p:cNvSpPr>
            <a:spLocks noGrp="1"/>
          </p:cNvSpPr>
          <p:nvPr>
            <p:ph type="body" idx="1"/>
          </p:nvPr>
        </p:nvSpPr>
        <p:spPr>
          <a:xfrm rot="0">
            <a:off x="514350" y="4400550"/>
            <a:ext cx="41148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93" name="Rectangle"/>
          <p:cNvSpPr>
            <a:spLocks noGrp="1"/>
          </p:cNvSpPr>
          <p:nvPr>
            <p:ph type="sldNum" idx="10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12897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4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02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4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03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4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04" name="Object"/>
          <p:cNvSpPr>
            <a:spLocks noGrp="1" noChangeAspect="1"/>
          </p:cNvSpPr>
          <p:nvPr>
            <p:ph type="sldImg"/>
          </p:nvPr>
        </p:nvSpPr>
        <p:spPr>
          <a:xfrm rot="0">
            <a:off x="-17145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05" name="Text box"/>
          <p:cNvSpPr>
            <a:spLocks noGrp="1"/>
          </p:cNvSpPr>
          <p:nvPr>
            <p:ph type="body" idx="1"/>
          </p:nvPr>
        </p:nvSpPr>
        <p:spPr>
          <a:xfrm rot="0">
            <a:off x="514350" y="4400550"/>
            <a:ext cx="41148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06" name="Rectangle"/>
          <p:cNvSpPr>
            <a:spLocks noGrp="1"/>
          </p:cNvSpPr>
          <p:nvPr>
            <p:ph type="sldNum" idx="10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07109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5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16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5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17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5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18" name="Object"/>
          <p:cNvSpPr>
            <a:spLocks noGrp="1" noChangeAspect="1"/>
          </p:cNvSpPr>
          <p:nvPr>
            <p:ph type="sldImg"/>
          </p:nvPr>
        </p:nvSpPr>
        <p:spPr>
          <a:xfrm rot="0">
            <a:off x="-17145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9" name="Text box"/>
          <p:cNvSpPr>
            <a:spLocks noGrp="1"/>
          </p:cNvSpPr>
          <p:nvPr>
            <p:ph type="body" idx="1"/>
          </p:nvPr>
        </p:nvSpPr>
        <p:spPr>
          <a:xfrm rot="0">
            <a:off x="514350" y="4400550"/>
            <a:ext cx="41148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20" name="Rectangle"/>
          <p:cNvSpPr>
            <a:spLocks noGrp="1"/>
          </p:cNvSpPr>
          <p:nvPr>
            <p:ph type="sldNum" idx="10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860070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6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29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6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30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6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31" name="Object"/>
          <p:cNvSpPr>
            <a:spLocks noGrp="1" noChangeAspect="1"/>
          </p:cNvSpPr>
          <p:nvPr>
            <p:ph type="sldImg"/>
          </p:nvPr>
        </p:nvSpPr>
        <p:spPr>
          <a:xfrm rot="0">
            <a:off x="-17145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2" name="Text box"/>
          <p:cNvSpPr>
            <a:spLocks noGrp="1"/>
          </p:cNvSpPr>
          <p:nvPr>
            <p:ph type="body" idx="1"/>
          </p:nvPr>
        </p:nvSpPr>
        <p:spPr>
          <a:xfrm rot="0">
            <a:off x="514350" y="4400550"/>
            <a:ext cx="41148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33" name="Rectangle"/>
          <p:cNvSpPr>
            <a:spLocks noGrp="1"/>
          </p:cNvSpPr>
          <p:nvPr>
            <p:ph type="sldNum" idx="10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904465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7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44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7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45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7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46" name="Object"/>
          <p:cNvSpPr>
            <a:spLocks noGrp="1" noChangeAspect="1"/>
          </p:cNvSpPr>
          <p:nvPr>
            <p:ph type="sldImg"/>
          </p:nvPr>
        </p:nvSpPr>
        <p:spPr>
          <a:xfrm rot="0">
            <a:off x="-17145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47" name="Text box"/>
          <p:cNvSpPr>
            <a:spLocks noGrp="1"/>
          </p:cNvSpPr>
          <p:nvPr>
            <p:ph type="body" idx="1"/>
          </p:nvPr>
        </p:nvSpPr>
        <p:spPr>
          <a:xfrm rot="0">
            <a:off x="514350" y="4400550"/>
            <a:ext cx="41148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48" name="Rectangle"/>
          <p:cNvSpPr>
            <a:spLocks noGrp="1"/>
          </p:cNvSpPr>
          <p:nvPr>
            <p:ph type="sldNum" idx="10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434530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8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57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8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58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8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59" name="Object"/>
          <p:cNvSpPr>
            <a:spLocks noGrp="1" noChangeAspect="1"/>
          </p:cNvSpPr>
          <p:nvPr>
            <p:ph type="sldImg"/>
          </p:nvPr>
        </p:nvSpPr>
        <p:spPr>
          <a:xfrm rot="0">
            <a:off x="-17145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60" name="Text box"/>
          <p:cNvSpPr>
            <a:spLocks noGrp="1"/>
          </p:cNvSpPr>
          <p:nvPr>
            <p:ph type="body" idx="1"/>
          </p:nvPr>
        </p:nvSpPr>
        <p:spPr>
          <a:xfrm rot="0">
            <a:off x="514350" y="4400550"/>
            <a:ext cx="41148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61" name="Rectangle"/>
          <p:cNvSpPr>
            <a:spLocks noGrp="1"/>
          </p:cNvSpPr>
          <p:nvPr>
            <p:ph type="sldNum" idx="10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213957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9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70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9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71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9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72" name="Object"/>
          <p:cNvSpPr>
            <a:spLocks noGrp="1" noChangeAspect="1"/>
          </p:cNvSpPr>
          <p:nvPr>
            <p:ph type="sldImg"/>
          </p:nvPr>
        </p:nvSpPr>
        <p:spPr>
          <a:xfrm rot="0">
            <a:off x="-17145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73" name="Text box"/>
          <p:cNvSpPr>
            <a:spLocks noGrp="1"/>
          </p:cNvSpPr>
          <p:nvPr>
            <p:ph type="body" idx="1"/>
          </p:nvPr>
        </p:nvSpPr>
        <p:spPr>
          <a:xfrm rot="0">
            <a:off x="514350" y="4400550"/>
            <a:ext cx="41148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74" name="Rectangle"/>
          <p:cNvSpPr>
            <a:spLocks noGrp="1"/>
          </p:cNvSpPr>
          <p:nvPr>
            <p:ph type="sldNum" idx="10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192340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10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84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10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85" name="Rectangle"/>
          <p:cNvSpPr>
            <a:spLocks noGrp="1"/>
          </p:cNvSpPr>
          <p:nvPr>
            <p:ph type="sldNum" idx="5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10</a:t>
            </a:fld>
            <a:endParaRPr lang="zh-CN" altLang="en-US" sz="1200"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  <p:sp>
        <p:nvSpPr>
          <p:cNvPr id="186" name="Object"/>
          <p:cNvSpPr>
            <a:spLocks noGrp="1" noChangeAspect="1"/>
          </p:cNvSpPr>
          <p:nvPr>
            <p:ph type="sldImg"/>
          </p:nvPr>
        </p:nvSpPr>
        <p:spPr>
          <a:xfrm rot="0">
            <a:off x="-17145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7" name="Text box"/>
          <p:cNvSpPr>
            <a:spLocks noGrp="1"/>
          </p:cNvSpPr>
          <p:nvPr>
            <p:ph type="body" idx="1"/>
          </p:nvPr>
        </p:nvSpPr>
        <p:spPr>
          <a:xfrm rot="0">
            <a:off x="514350" y="4400550"/>
            <a:ext cx="41148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88" name="Rectangle"/>
          <p:cNvSpPr>
            <a:spLocks noGrp="1"/>
          </p:cNvSpPr>
          <p:nvPr>
            <p:ph type="sldNum" idx="10"/>
          </p:nvPr>
        </p:nvSpPr>
        <p:spPr>
          <a:xfrm rot="0">
            <a:off x="2913063" y="8685213"/>
            <a:ext cx="222885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00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Relationship Id="rId3" Type="http://schemas.openxmlformats.org/officeDocument/2006/relationships/image" Target="../media/2.png"/><Relationship Id="rId4" Type="http://schemas.openxmlformats.org/officeDocument/2006/relationships/image" Target="../media/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png"/><Relationship Id="rId3" Type="http://schemas.openxmlformats.org/officeDocument/2006/relationships/image" Target="../media/2.png"/><Relationship Id="rId4" Type="http://schemas.openxmlformats.org/officeDocument/2006/relationships/image" Target="../media/3.png"/><Relationship Id="rId5" Type="http://schemas.openxmlformats.org/officeDocument/2006/relationships/image" Target="../media/4.png"/><Relationship Id="rId6" Type="http://schemas.openxmlformats.org/officeDocument/2006/relationships/image" Target="../media/5.png"/><Relationship Id="rId7" Type="http://schemas.openxmlformats.org/officeDocument/2006/relationships/image" Target="../media/6.pn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282368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591457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990285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992478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72698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832345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289127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192811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098998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918975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082108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/>
          <p:cNvSpPr>
            <a:spLocks/>
          </p:cNvSpPr>
          <p:nvPr/>
        </p:nvSpPr>
        <p:spPr>
          <a:xfrm rot="0">
            <a:off x="0" y="0"/>
            <a:ext cx="9144000" cy="658368"/>
          </a:xfrm>
          <a:prstGeom prst="rect"/>
          <a:solidFill>
            <a:srgbClr val="CBD1F5"/>
          </a:solidFill>
          <a:ln w="12700" cmpd="sng" cap="flat">
            <a:solidFill>
              <a:srgbClr val="CBD1F5"/>
            </a:solidFill>
            <a:prstDash val="solid"/>
            <a:round/>
          </a:ln>
        </p:spPr>
      </p:sp>
      <p:sp>
        <p:nvSpPr>
          <p:cNvPr id="10" name="Rectangle"/>
          <p:cNvSpPr>
            <a:spLocks/>
          </p:cNvSpPr>
          <p:nvPr/>
        </p:nvSpPr>
        <p:spPr>
          <a:xfrm rot="0">
            <a:off x="0" y="658368"/>
            <a:ext cx="3054095" cy="45718"/>
          </a:xfrm>
          <a:prstGeom prst="rect"/>
          <a:solidFill>
            <a:srgbClr val="7C93F0"/>
          </a:solidFill>
          <a:ln w="12700" cmpd="sng" cap="flat">
            <a:solidFill>
              <a:srgbClr val="7C93F0"/>
            </a:solidFill>
            <a:prstDash val="solid"/>
            <a:round/>
          </a:ln>
        </p:spPr>
      </p:sp>
      <p:sp>
        <p:nvSpPr>
          <p:cNvPr id="11" name="Rectangle"/>
          <p:cNvSpPr>
            <a:spLocks/>
          </p:cNvSpPr>
          <p:nvPr/>
        </p:nvSpPr>
        <p:spPr>
          <a:xfrm rot="0">
            <a:off x="3054095" y="658368"/>
            <a:ext cx="3054095" cy="45718"/>
          </a:xfrm>
          <a:prstGeom prst="rect"/>
          <a:solidFill>
            <a:srgbClr val="E8639F"/>
          </a:solidFill>
          <a:ln w="12700" cmpd="sng" cap="flat">
            <a:solidFill>
              <a:srgbClr val="E8639F"/>
            </a:solidFill>
            <a:prstDash val="solid"/>
            <a:round/>
          </a:ln>
        </p:spPr>
      </p:sp>
      <p:sp>
        <p:nvSpPr>
          <p:cNvPr id="12" name="Rectangle"/>
          <p:cNvSpPr>
            <a:spLocks/>
          </p:cNvSpPr>
          <p:nvPr/>
        </p:nvSpPr>
        <p:spPr>
          <a:xfrm rot="0">
            <a:off x="6099048" y="658368"/>
            <a:ext cx="3054095" cy="45718"/>
          </a:xfrm>
          <a:prstGeom prst="rect"/>
          <a:solidFill>
            <a:srgbClr val="5B3BA8"/>
          </a:solidFill>
          <a:ln w="12700" cmpd="sng" cap="flat">
            <a:solidFill>
              <a:srgbClr val="5B3BA8"/>
            </a:solidFill>
            <a:prstDash val="solid"/>
            <a:round/>
          </a:ln>
        </p:spPr>
      </p:sp>
      <p:pic>
        <p:nvPicPr>
          <p:cNvPr id="13" name="Image" descr="vtu_c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365760" y="91440"/>
            <a:ext cx="475487" cy="47548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4" name="Rectangle"/>
          <p:cNvSpPr>
            <a:spLocks/>
          </p:cNvSpPr>
          <p:nvPr/>
        </p:nvSpPr>
        <p:spPr>
          <a:xfrm rot="0">
            <a:off x="932688" y="91440"/>
            <a:ext cx="3108960" cy="23774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1200" cap="none" spc="0" baseline="0">
                <a:solidFill>
                  <a:srgbClr val="2E1B5B"/>
                </a:solidFill>
                <a:latin typeface="Nirmala UI" pitchFamily="34" charset="0"/>
                <a:ea typeface="Nirmala UI" pitchFamily="34" charset="0"/>
                <a:cs typeface="Nirmala UI" pitchFamily="34" charset="0"/>
              </a:rPr>
              <a:t>ವಿಶ್ವೇಶ್ವರಯ್ಯ ತಾಂತ್ರಿಕ ವಿಶ್ವವಿದ್ಯಾಲಯ, ಬೆಳಗಾವಿ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" name="Rectangle"/>
          <p:cNvSpPr>
            <a:spLocks/>
          </p:cNvSpPr>
          <p:nvPr/>
        </p:nvSpPr>
        <p:spPr>
          <a:xfrm rot="0">
            <a:off x="932688" y="338328"/>
            <a:ext cx="3108960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1200" cap="none" spc="0" baseline="0">
                <a:solidFill>
                  <a:srgbClr val="2E1B5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Visvesvaraya Technological University, Belagavi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16" name="Image" descr="quc_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4261104" y="91440"/>
            <a:ext cx="612648" cy="47548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7" name="Rectangle"/>
          <p:cNvSpPr>
            <a:spLocks/>
          </p:cNvSpPr>
          <p:nvPr/>
        </p:nvSpPr>
        <p:spPr>
          <a:xfrm rot="0">
            <a:off x="5394960" y="109728"/>
            <a:ext cx="278892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0" cap="none" spc="200" baseline="0">
                <a:solidFill>
                  <a:srgbClr val="2E1B5B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QISKIT FALL FEST 2026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" name="Rectangle"/>
          <p:cNvSpPr>
            <a:spLocks/>
          </p:cNvSpPr>
          <p:nvPr/>
        </p:nvSpPr>
        <p:spPr>
          <a:xfrm rot="0">
            <a:off x="5394960" y="365760"/>
            <a:ext cx="278892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0" cap="none" spc="100" baseline="0">
                <a:solidFill>
                  <a:srgbClr val="5B3BA8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IBM Quantum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19" name="Image" descr="badge_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8302752" y="91440"/>
            <a:ext cx="475488" cy="47548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0" name="Rectangle"/>
          <p:cNvSpPr>
            <a:spLocks/>
          </p:cNvSpPr>
          <p:nvPr/>
        </p:nvSpPr>
        <p:spPr>
          <a:xfrm rot="0">
            <a:off x="0" y="4828032"/>
            <a:ext cx="9144000" cy="315468"/>
          </a:xfrm>
          <a:prstGeom prst="rect"/>
          <a:solidFill>
            <a:srgbClr val="CBD1F5"/>
          </a:solidFill>
          <a:ln w="12700" cmpd="sng" cap="flat">
            <a:solidFill>
              <a:srgbClr val="CBD1F5"/>
            </a:solidFill>
            <a:prstDash val="solid"/>
            <a:round/>
          </a:ln>
        </p:spPr>
      </p:sp>
      <p:sp>
        <p:nvSpPr>
          <p:cNvPr id="21" name="Rectangle"/>
          <p:cNvSpPr>
            <a:spLocks/>
          </p:cNvSpPr>
          <p:nvPr/>
        </p:nvSpPr>
        <p:spPr>
          <a:xfrm rot="0">
            <a:off x="0" y="4828032"/>
            <a:ext cx="3054095" cy="36575"/>
          </a:xfrm>
          <a:prstGeom prst="rect"/>
          <a:solidFill>
            <a:srgbClr val="7C93F0"/>
          </a:solidFill>
          <a:ln w="12700" cmpd="sng" cap="flat">
            <a:solidFill>
              <a:srgbClr val="7C93F0"/>
            </a:solidFill>
            <a:prstDash val="solid"/>
            <a:round/>
          </a:ln>
        </p:spPr>
      </p:sp>
      <p:sp>
        <p:nvSpPr>
          <p:cNvPr id="22" name="Rectangle"/>
          <p:cNvSpPr>
            <a:spLocks/>
          </p:cNvSpPr>
          <p:nvPr/>
        </p:nvSpPr>
        <p:spPr>
          <a:xfrm rot="0">
            <a:off x="3054095" y="4828032"/>
            <a:ext cx="3054095" cy="36575"/>
          </a:xfrm>
          <a:prstGeom prst="rect"/>
          <a:solidFill>
            <a:srgbClr val="E8639F"/>
          </a:solidFill>
          <a:ln w="12700" cmpd="sng" cap="flat">
            <a:solidFill>
              <a:srgbClr val="E8639F"/>
            </a:solidFill>
            <a:prstDash val="solid"/>
            <a:round/>
          </a:ln>
        </p:spPr>
      </p:sp>
      <p:sp>
        <p:nvSpPr>
          <p:cNvPr id="23" name="Rectangle"/>
          <p:cNvSpPr>
            <a:spLocks/>
          </p:cNvSpPr>
          <p:nvPr/>
        </p:nvSpPr>
        <p:spPr>
          <a:xfrm rot="0">
            <a:off x="6099048" y="4828032"/>
            <a:ext cx="3054095" cy="36575"/>
          </a:xfrm>
          <a:prstGeom prst="rect"/>
          <a:solidFill>
            <a:srgbClr val="5B3BA8"/>
          </a:solidFill>
          <a:ln w="12700" cmpd="sng" cap="flat">
            <a:solidFill>
              <a:srgbClr val="5B3BA8"/>
            </a:solidFill>
            <a:prstDash val="solid"/>
            <a:round/>
          </a:ln>
        </p:spPr>
      </p:sp>
      <p:sp>
        <p:nvSpPr>
          <p:cNvPr id="24" name="Rectangle"/>
          <p:cNvSpPr>
            <a:spLocks/>
          </p:cNvSpPr>
          <p:nvPr/>
        </p:nvSpPr>
        <p:spPr>
          <a:xfrm rot="0">
            <a:off x="457200" y="4864608"/>
            <a:ext cx="5029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0" cap="none" spc="200" baseline="0">
                <a:solidFill>
                  <a:srgbClr val="2E1B5B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QISKIT FALL FEST 2026  ·  HOSTED BY VTU, BELAGAVI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" name="Rectangle"/>
          <p:cNvSpPr>
            <a:spLocks/>
          </p:cNvSpPr>
          <p:nvPr/>
        </p:nvSpPr>
        <p:spPr>
          <a:xfrm rot="0">
            <a:off x="5943599" y="4864608"/>
            <a:ext cx="219456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0" cap="none" spc="200" baseline="0">
                <a:solidFill>
                  <a:srgbClr val="5B3BA8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27 – 31 OCT 2026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556051"/>
      </p:ext>
    </p:extLst>
  </p:cSld>
  <p:clrMapOvr>
    <a:masterClrMapping/>
  </p:clrMapOvr>
  <p:hf sldNum="0"/>
</p:sldLayout>
</file>

<file path=ppt/slideLayouts/slideLayout13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"/>
          <p:cNvSpPr>
            <a:spLocks/>
          </p:cNvSpPr>
          <p:nvPr/>
        </p:nvSpPr>
        <p:spPr>
          <a:xfrm rot="0">
            <a:off x="0" y="0"/>
            <a:ext cx="9144000" cy="658368"/>
          </a:xfrm>
          <a:prstGeom prst="rect"/>
          <a:solidFill>
            <a:srgbClr val="CBD1F5"/>
          </a:solidFill>
          <a:ln w="12700" cmpd="sng" cap="flat">
            <a:solidFill>
              <a:srgbClr val="CBD1F5"/>
            </a:solidFill>
            <a:prstDash val="solid"/>
            <a:round/>
          </a:ln>
        </p:spPr>
      </p:sp>
      <p:sp>
        <p:nvSpPr>
          <p:cNvPr id="48" name="Rectangle"/>
          <p:cNvSpPr>
            <a:spLocks/>
          </p:cNvSpPr>
          <p:nvPr/>
        </p:nvSpPr>
        <p:spPr>
          <a:xfrm rot="0">
            <a:off x="0" y="658368"/>
            <a:ext cx="3054095" cy="45718"/>
          </a:xfrm>
          <a:prstGeom prst="rect"/>
          <a:solidFill>
            <a:srgbClr val="7C93F0"/>
          </a:solidFill>
          <a:ln w="12700" cmpd="sng" cap="flat">
            <a:solidFill>
              <a:srgbClr val="7C93F0"/>
            </a:solidFill>
            <a:prstDash val="solid"/>
            <a:round/>
          </a:ln>
        </p:spPr>
      </p:sp>
      <p:sp>
        <p:nvSpPr>
          <p:cNvPr id="49" name="Rectangle"/>
          <p:cNvSpPr>
            <a:spLocks/>
          </p:cNvSpPr>
          <p:nvPr/>
        </p:nvSpPr>
        <p:spPr>
          <a:xfrm rot="0">
            <a:off x="3054095" y="658368"/>
            <a:ext cx="3054095" cy="45718"/>
          </a:xfrm>
          <a:prstGeom prst="rect"/>
          <a:solidFill>
            <a:srgbClr val="E8639F"/>
          </a:solidFill>
          <a:ln w="12700" cmpd="sng" cap="flat">
            <a:solidFill>
              <a:srgbClr val="E8639F"/>
            </a:solidFill>
            <a:prstDash val="solid"/>
            <a:round/>
          </a:ln>
        </p:spPr>
      </p:sp>
      <p:sp>
        <p:nvSpPr>
          <p:cNvPr id="50" name="Rectangle"/>
          <p:cNvSpPr>
            <a:spLocks/>
          </p:cNvSpPr>
          <p:nvPr/>
        </p:nvSpPr>
        <p:spPr>
          <a:xfrm rot="0">
            <a:off x="6099048" y="658368"/>
            <a:ext cx="3054095" cy="45718"/>
          </a:xfrm>
          <a:prstGeom prst="rect"/>
          <a:solidFill>
            <a:srgbClr val="5B3BA8"/>
          </a:solidFill>
          <a:ln w="12700" cmpd="sng" cap="flat">
            <a:solidFill>
              <a:srgbClr val="5B3BA8"/>
            </a:solidFill>
            <a:prstDash val="solid"/>
            <a:round/>
          </a:ln>
        </p:spPr>
      </p:sp>
      <p:pic>
        <p:nvPicPr>
          <p:cNvPr id="51" name="Image" descr="vtu_c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365760" y="91440"/>
            <a:ext cx="475487" cy="47548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2" name="Rectangle"/>
          <p:cNvSpPr>
            <a:spLocks/>
          </p:cNvSpPr>
          <p:nvPr/>
        </p:nvSpPr>
        <p:spPr>
          <a:xfrm rot="0">
            <a:off x="932688" y="91440"/>
            <a:ext cx="3108960" cy="23774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1200" cap="none" spc="0" baseline="0">
                <a:solidFill>
                  <a:srgbClr val="2E1B5B"/>
                </a:solidFill>
                <a:latin typeface="Nirmala UI" pitchFamily="34" charset="0"/>
                <a:ea typeface="Nirmala UI" pitchFamily="34" charset="0"/>
                <a:cs typeface="Nirmala UI" pitchFamily="34" charset="0"/>
              </a:rPr>
              <a:t>ವಿಶ್ವೇಶ್ವರಯ್ಯ ತಾಂತ್ರಿಕ ವಿಶ್ವವಿದ್ಯಾಲಯ, ಬೆಳಗಾವಿ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" name="Rectangle"/>
          <p:cNvSpPr>
            <a:spLocks/>
          </p:cNvSpPr>
          <p:nvPr/>
        </p:nvSpPr>
        <p:spPr>
          <a:xfrm rot="0">
            <a:off x="932688" y="338328"/>
            <a:ext cx="3108960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1200" cap="none" spc="0" baseline="0">
                <a:solidFill>
                  <a:srgbClr val="2E1B5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Visvesvaraya Technological University, Belagavi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54" name="Image" descr="quc_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4261104" y="91440"/>
            <a:ext cx="612648" cy="47548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5" name="Rectangle"/>
          <p:cNvSpPr>
            <a:spLocks/>
          </p:cNvSpPr>
          <p:nvPr/>
        </p:nvSpPr>
        <p:spPr>
          <a:xfrm rot="0">
            <a:off x="5394960" y="109728"/>
            <a:ext cx="278892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0" cap="none" spc="200" baseline="0">
                <a:solidFill>
                  <a:srgbClr val="2E1B5B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QISKIT FALL FEST 2026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" name="Rectangle"/>
          <p:cNvSpPr>
            <a:spLocks/>
          </p:cNvSpPr>
          <p:nvPr/>
        </p:nvSpPr>
        <p:spPr>
          <a:xfrm rot="0">
            <a:off x="5394960" y="365760"/>
            <a:ext cx="278892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0" cap="none" spc="100" baseline="0">
                <a:solidFill>
                  <a:srgbClr val="5B3BA8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IBM Quantum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57" name="Image" descr="badge_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8302752" y="91440"/>
            <a:ext cx="475488" cy="47548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8" name="Rectangle"/>
          <p:cNvSpPr>
            <a:spLocks/>
          </p:cNvSpPr>
          <p:nvPr/>
        </p:nvSpPr>
        <p:spPr>
          <a:xfrm rot="0">
            <a:off x="0" y="4828032"/>
            <a:ext cx="9144000" cy="315468"/>
          </a:xfrm>
          <a:prstGeom prst="rect"/>
          <a:solidFill>
            <a:srgbClr val="CBD1F5"/>
          </a:solidFill>
          <a:ln w="12700" cmpd="sng" cap="flat">
            <a:solidFill>
              <a:srgbClr val="CBD1F5"/>
            </a:solidFill>
            <a:prstDash val="solid"/>
            <a:round/>
          </a:ln>
        </p:spPr>
      </p:sp>
      <p:sp>
        <p:nvSpPr>
          <p:cNvPr id="59" name="Rectangle"/>
          <p:cNvSpPr>
            <a:spLocks/>
          </p:cNvSpPr>
          <p:nvPr/>
        </p:nvSpPr>
        <p:spPr>
          <a:xfrm rot="0">
            <a:off x="0" y="4828032"/>
            <a:ext cx="3054095" cy="36575"/>
          </a:xfrm>
          <a:prstGeom prst="rect"/>
          <a:solidFill>
            <a:srgbClr val="7C93F0"/>
          </a:solidFill>
          <a:ln w="12700" cmpd="sng" cap="flat">
            <a:solidFill>
              <a:srgbClr val="7C93F0"/>
            </a:solidFill>
            <a:prstDash val="solid"/>
            <a:round/>
          </a:ln>
        </p:spPr>
      </p:sp>
      <p:sp>
        <p:nvSpPr>
          <p:cNvPr id="60" name="Rectangle"/>
          <p:cNvSpPr>
            <a:spLocks/>
          </p:cNvSpPr>
          <p:nvPr/>
        </p:nvSpPr>
        <p:spPr>
          <a:xfrm rot="0">
            <a:off x="3054095" y="4828032"/>
            <a:ext cx="3054095" cy="36575"/>
          </a:xfrm>
          <a:prstGeom prst="rect"/>
          <a:solidFill>
            <a:srgbClr val="E8639F"/>
          </a:solidFill>
          <a:ln w="12700" cmpd="sng" cap="flat">
            <a:solidFill>
              <a:srgbClr val="E8639F"/>
            </a:solidFill>
            <a:prstDash val="solid"/>
            <a:round/>
          </a:ln>
        </p:spPr>
      </p:sp>
      <p:sp>
        <p:nvSpPr>
          <p:cNvPr id="61" name="Rectangle"/>
          <p:cNvSpPr>
            <a:spLocks/>
          </p:cNvSpPr>
          <p:nvPr/>
        </p:nvSpPr>
        <p:spPr>
          <a:xfrm rot="0">
            <a:off x="6099048" y="4828032"/>
            <a:ext cx="3054095" cy="36575"/>
          </a:xfrm>
          <a:prstGeom prst="rect"/>
          <a:solidFill>
            <a:srgbClr val="5B3BA8"/>
          </a:solidFill>
          <a:ln w="12700" cmpd="sng" cap="flat">
            <a:solidFill>
              <a:srgbClr val="5B3BA8"/>
            </a:solidFill>
            <a:prstDash val="solid"/>
            <a:round/>
          </a:ln>
        </p:spPr>
      </p:sp>
      <p:sp>
        <p:nvSpPr>
          <p:cNvPr id="62" name="Rectangle"/>
          <p:cNvSpPr>
            <a:spLocks/>
          </p:cNvSpPr>
          <p:nvPr/>
        </p:nvSpPr>
        <p:spPr>
          <a:xfrm rot="0">
            <a:off x="457200" y="4864608"/>
            <a:ext cx="50292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0" cap="none" spc="200" baseline="0">
                <a:solidFill>
                  <a:srgbClr val="2E1B5B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QISKIT FALL FEST 2026  ·  HOSTED BY VTU, BELAGAVI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3" name="Rectangle"/>
          <p:cNvSpPr>
            <a:spLocks/>
          </p:cNvSpPr>
          <p:nvPr/>
        </p:nvSpPr>
        <p:spPr>
          <a:xfrm rot="0">
            <a:off x="5943599" y="4864608"/>
            <a:ext cx="219456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0" cap="none" spc="200" baseline="0">
                <a:solidFill>
                  <a:srgbClr val="5B3BA8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27 – 31 OCT 2026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64" name="Image" descr="spher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7909560" y="822960"/>
            <a:ext cx="777240" cy="77724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5" name="Image" descr="bird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7086600" y="868680"/>
            <a:ext cx="548640" cy="32918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6" name="Image" descr="bird2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6903720" y="1261872"/>
            <a:ext cx="384048" cy="228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7" name="Text box"/>
          <p:cNvSpPr>
            <a:spLocks noGrp="1"/>
          </p:cNvSpPr>
          <p:nvPr>
            <p:ph type="title" idx="120"/>
          </p:nvPr>
        </p:nvSpPr>
        <p:spPr>
          <a:xfrm rot="0">
            <a:off x="457200" y="841248"/>
            <a:ext cx="630936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/>
            <a:endParaRPr lang="zh-CN" altLang="en-US" sz="2600" b="1">
              <a:solidFill>
                <a:srgbClr val="2E1B5B"/>
              </a:solidFill>
              <a:latin typeface="Georgia" pitchFamily="0" charset="0"/>
              <a:ea typeface="Georgia" pitchFamily="0" charset="0"/>
              <a:cs typeface="Georgia" pitchFamily="0" charset="0"/>
            </a:endParaRPr>
          </a:p>
        </p:txBody>
      </p:sp>
      <p:sp>
        <p:nvSpPr>
          <p:cNvPr id="68" name="Text box"/>
          <p:cNvSpPr>
            <a:spLocks noGrp="1"/>
          </p:cNvSpPr>
          <p:nvPr>
            <p:ph type="sldNum"/>
          </p:nvPr>
        </p:nvSpPr>
        <p:spPr>
          <a:xfrm rot="0">
            <a:off x="8321040" y="4864608"/>
            <a:ext cx="365758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900" b="1" i="0" u="none" strike="noStrike" kern="1200" cap="none" spc="0" baseline="0">
                <a:solidFill>
                  <a:srgbClr val="2E1B5B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900">
              <a:solidFill>
                <a:srgbClr val="2E1B5B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98728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/>
          </p:nvPr>
        </p:nvSpPr>
        <p:spPr>
          <a:xfrm rot="0">
            <a:off x="8321040" y="4864608"/>
            <a:ext cx="365758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900" b="1" i="0" u="none" strike="noStrike" kern="1200" cap="none" spc="0" baseline="0">
                <a:solidFill>
                  <a:srgbClr val="2E1B5B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900">
              <a:solidFill>
                <a:srgbClr val="2E1B5B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22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Georgia" pitchFamily="0" charset="0"/>
          <a:ea typeface="等线 Light" pitchFamily="0" charset="0"/>
          <a:cs typeface="Georgia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4.png"/><Relationship Id="rId2" Type="http://schemas.openxmlformats.org/officeDocument/2006/relationships/image" Target="../media/5.png"/><Relationship Id="rId3" Type="http://schemas.openxmlformats.org/officeDocument/2006/relationships/image" Target="../media/6.png"/><Relationship Id="rId4" Type="http://schemas.openxmlformats.org/officeDocument/2006/relationships/image" Target="../media/7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4.png"/><Relationship Id="rId2" Type="http://schemas.openxmlformats.org/officeDocument/2006/relationships/image" Target="../media/5.png"/><Relationship Id="rId3" Type="http://schemas.openxmlformats.org/officeDocument/2006/relationships/image" Target="../media/6.png"/><Relationship Id="rId4" Type="http://schemas.openxmlformats.org/officeDocument/2006/relationships/image" Target="../media/7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"/>
          <p:cNvSpPr>
            <a:spLocks/>
          </p:cNvSpPr>
          <p:nvPr/>
        </p:nvSpPr>
        <p:spPr>
          <a:xfrm rot="0">
            <a:off x="457200" y="914400"/>
            <a:ext cx="32918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0" cap="none" spc="300" baseline="0">
                <a:solidFill>
                  <a:srgbClr val="E8639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PARTICIPANT PRESENTATION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" name="Rectangle"/>
          <p:cNvSpPr>
            <a:spLocks/>
          </p:cNvSpPr>
          <p:nvPr/>
        </p:nvSpPr>
        <p:spPr>
          <a:xfrm rot="0">
            <a:off x="457200" y="1234440"/>
            <a:ext cx="3383279" cy="164591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3800" b="1" i="0" u="none" strike="noStrike" kern="1200" cap="none" spc="0" baseline="0">
                <a:solidFill>
                  <a:srgbClr val="2E1B5B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Qiskit</a:t>
            </a:r>
            <a:endParaRPr lang="en-US" altLang="zh-CN" sz="3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3800" b="1" i="0" u="none" strike="noStrike" kern="1200" cap="none" spc="0" baseline="0">
                <a:solidFill>
                  <a:srgbClr val="E8639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Fall Fest</a:t>
            </a:r>
            <a:endParaRPr lang="en-US" altLang="zh-CN" sz="3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3800" b="1" i="0" u="none" strike="noStrike" kern="1200" cap="none" spc="0" baseline="0">
                <a:solidFill>
                  <a:srgbClr val="2E1B5B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2026</a:t>
            </a:r>
            <a:endParaRPr lang="zh-CN" altLang="en-US" sz="3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" name="Rectangle"/>
          <p:cNvSpPr>
            <a:spLocks/>
          </p:cNvSpPr>
          <p:nvPr/>
        </p:nvSpPr>
        <p:spPr>
          <a:xfrm rot="0">
            <a:off x="457200" y="3017519"/>
            <a:ext cx="32918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4A438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Hackathon · Team Details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29" name="Image" descr="sphere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457200" y="3291840"/>
            <a:ext cx="1371600" cy="13716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0" name="Image" descr="bird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2148840" y="3429000"/>
            <a:ext cx="731519" cy="438912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1" name="Image" descr="bird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2880360" y="3977640"/>
            <a:ext cx="502920" cy="301751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32" name="Image" descr="bird3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2331720" y="4297680"/>
            <a:ext cx="384047" cy="228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3" name="Rectangle"/>
          <p:cNvSpPr>
            <a:spLocks/>
          </p:cNvSpPr>
          <p:nvPr/>
        </p:nvSpPr>
        <p:spPr>
          <a:xfrm rot="0">
            <a:off x="4023359" y="841248"/>
            <a:ext cx="4663440" cy="32003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E1B5B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Participant Details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" name="Rounded rectangle"/>
          <p:cNvSpPr>
            <a:spLocks/>
          </p:cNvSpPr>
          <p:nvPr/>
        </p:nvSpPr>
        <p:spPr>
          <a:xfrm rot="0">
            <a:off x="4023359" y="1261872"/>
            <a:ext cx="4663440" cy="530352"/>
          </a:xfrm>
          <a:prstGeom prst="roundRect">
            <a:avLst>
              <a:gd name="adj" fmla="val 10347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63500" tIns="114300" rIns="114300" bIns="3810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5B3BA8"/>
                </a:solidFill>
                <a:latin typeface="Calibri" pitchFamily="0" charset="0"/>
                <a:ea typeface="宋体" pitchFamily="0" charset="0"/>
                <a:cs typeface="Droid Sans" pitchFamily="0" charset="0"/>
              </a:rPr>
              <a:t>PROJECT TITLE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5B3BA8"/>
                </a:solidFill>
                <a:latin typeface="Calibri" pitchFamily="0" charset="0"/>
                <a:ea typeface="宋体" pitchFamily="0" charset="0"/>
                <a:cs typeface="Droid Sans" pitchFamily="0" charset="0"/>
              </a:rPr>
              <a:t>QuantumLeaf: Hybrid Quantum–Classical Early Crop Disease Intelligence</a:t>
            </a:r>
            <a:endParaRPr lang="zh-CN" altLang="en-US" sz="1300" b="1" i="0" u="none" strike="noStrike" kern="1200" cap="none" spc="0" baseline="0">
              <a:solidFill>
                <a:srgbClr val="5B3BA8"/>
              </a:solidFill>
              <a:latin typeface="Calibri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35" name="Rounded rectangle"/>
          <p:cNvSpPr>
            <a:spLocks/>
          </p:cNvSpPr>
          <p:nvPr/>
        </p:nvSpPr>
        <p:spPr>
          <a:xfrm rot="0">
            <a:off x="4023359" y="1865376"/>
            <a:ext cx="2285999" cy="530352"/>
          </a:xfrm>
          <a:prstGeom prst="roundRect">
            <a:avLst>
              <a:gd name="adj" fmla="val 10347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64008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5B3BA8"/>
                </a:solidFill>
                <a:latin typeface="Calibri" pitchFamily="0" charset="0"/>
                <a:ea typeface="宋体" pitchFamily="0" charset="0"/>
                <a:cs typeface="Droid Sans" pitchFamily="0" charset="0"/>
              </a:rPr>
              <a:t>TRACK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5B3BA8"/>
                </a:solidFill>
                <a:latin typeface="Calibri" pitchFamily="0" charset="0"/>
                <a:ea typeface="宋体" pitchFamily="0" charset="0"/>
                <a:cs typeface="Droid Sans" pitchFamily="0" charset="0"/>
              </a:rPr>
              <a:t>Quantum AI &amp; ML</a:t>
            </a:r>
            <a:endParaRPr lang="zh-CN" altLang="en-US" sz="1050" b="1" i="0" u="none" strike="noStrike" kern="1200" cap="none" spc="0" baseline="0">
              <a:solidFill>
                <a:srgbClr val="5B3BA8"/>
              </a:solidFill>
              <a:latin typeface="Calibri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36" name="Rounded rectangle"/>
          <p:cNvSpPr>
            <a:spLocks/>
          </p:cNvSpPr>
          <p:nvPr/>
        </p:nvSpPr>
        <p:spPr>
          <a:xfrm rot="0">
            <a:off x="6400800" y="1865376"/>
            <a:ext cx="2286000" cy="530352"/>
          </a:xfrm>
          <a:prstGeom prst="roundRect">
            <a:avLst>
              <a:gd name="adj" fmla="val 10347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64008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050" b="1" i="0" u="none" strike="noStrike" kern="0" cap="none" spc="100" baseline="0">
                <a:solidFill>
                  <a:srgbClr val="5B3BA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TEAM NAME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Techvora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" name="Rounded rectangle"/>
          <p:cNvSpPr>
            <a:spLocks/>
          </p:cNvSpPr>
          <p:nvPr/>
        </p:nvSpPr>
        <p:spPr>
          <a:xfrm rot="0">
            <a:off x="4023359" y="2468880"/>
            <a:ext cx="2285999" cy="530352"/>
          </a:xfrm>
          <a:prstGeom prst="roundRect">
            <a:avLst>
              <a:gd name="adj" fmla="val 10347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64008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050" b="1" i="0" u="none" strike="noStrike" kern="0" cap="none" spc="100" baseline="0">
                <a:solidFill>
                  <a:srgbClr val="5B3BA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TEAM LEADER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Thota Roshini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" name="Rounded rectangle"/>
          <p:cNvSpPr>
            <a:spLocks/>
          </p:cNvSpPr>
          <p:nvPr/>
        </p:nvSpPr>
        <p:spPr>
          <a:xfrm rot="0">
            <a:off x="6400800" y="2468880"/>
            <a:ext cx="2286000" cy="530352"/>
          </a:xfrm>
          <a:prstGeom prst="roundRect">
            <a:avLst>
              <a:gd name="adj" fmla="val 10347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64008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050" b="1" i="0" u="none" strike="noStrike" kern="0" cap="none" spc="100" baseline="0">
                <a:solidFill>
                  <a:srgbClr val="5B3BA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EMAIL / CONTACT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troshini419@gmail.com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" name="Rounded rectangle"/>
          <p:cNvSpPr>
            <a:spLocks/>
          </p:cNvSpPr>
          <p:nvPr/>
        </p:nvSpPr>
        <p:spPr>
          <a:xfrm rot="0">
            <a:off x="4023359" y="3072384"/>
            <a:ext cx="4663440" cy="777239"/>
          </a:xfrm>
          <a:prstGeom prst="roundRect">
            <a:avLst>
              <a:gd name="adj" fmla="val 7060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64008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050" b="1" i="0" u="none" strike="noStrike" kern="0" cap="none" spc="100" baseline="0">
                <a:solidFill>
                  <a:srgbClr val="5B3BA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TEAM MEMBERS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Thota Roshini ,  Hansika  Mamidi , T. Charmi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0" name="Rounded rectangle"/>
          <p:cNvSpPr>
            <a:spLocks/>
          </p:cNvSpPr>
          <p:nvPr/>
        </p:nvSpPr>
        <p:spPr>
          <a:xfrm rot="0">
            <a:off x="4023359" y="3922776"/>
            <a:ext cx="2285999" cy="530352"/>
          </a:xfrm>
          <a:prstGeom prst="roundRect">
            <a:avLst>
              <a:gd name="adj" fmla="val 10347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64008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5B3BA8"/>
                </a:solidFill>
                <a:latin typeface="Calibri" pitchFamily="0" charset="0"/>
                <a:ea typeface="宋体" pitchFamily="0" charset="0"/>
                <a:cs typeface="Droid Sans" pitchFamily="0" charset="0"/>
              </a:rPr>
              <a:t>INSTITUTION / ORGANISATION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5B3BA8"/>
                </a:solidFill>
                <a:latin typeface="Calibri" pitchFamily="0" charset="0"/>
                <a:ea typeface="宋体" pitchFamily="0" charset="0"/>
                <a:cs typeface="Droid Sans" pitchFamily="0" charset="0"/>
              </a:rPr>
              <a:t>Keshav Memorial Institute of Technology</a:t>
            </a:r>
            <a:endParaRPr lang="zh-CN" altLang="en-US" sz="1050" b="1" i="0" u="none" strike="noStrike" kern="1200" cap="none" spc="0" baseline="0">
              <a:solidFill>
                <a:srgbClr val="5B3BA8"/>
              </a:solidFill>
              <a:latin typeface="Calibri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41" name="Rounded rectangle"/>
          <p:cNvSpPr>
            <a:spLocks/>
          </p:cNvSpPr>
          <p:nvPr/>
        </p:nvSpPr>
        <p:spPr>
          <a:xfrm rot="0">
            <a:off x="6400800" y="3922776"/>
            <a:ext cx="2286000" cy="530352"/>
          </a:xfrm>
          <a:prstGeom prst="roundRect">
            <a:avLst>
              <a:gd name="adj" fmla="val 10347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64008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050" b="1" i="0" u="none" strike="noStrike" kern="0" cap="none" spc="100" baseline="0">
                <a:solidFill>
                  <a:srgbClr val="5B3BA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COUNTRY</a:t>
            </a:r>
            <a:endParaRPr lang="en-US" altLang="zh-CN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India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849822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box"/>
          <p:cNvSpPr>
            <a:spLocks noGrp="1"/>
          </p:cNvSpPr>
          <p:nvPr>
            <p:ph type="title" idx="120"/>
          </p:nvPr>
        </p:nvSpPr>
        <p:spPr>
          <a:xfrm rot="0">
            <a:off x="457200" y="841248"/>
            <a:ext cx="630936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1B5B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Problem Statement</a:t>
            </a:r>
            <a:endParaRPr lang="zh-CN" altLang="en-US" sz="2600" b="1" i="0" u="none" strike="noStrike" kern="1200" cap="none" spc="0" baseline="0">
              <a:solidFill>
                <a:srgbClr val="2E1B5B"/>
              </a:solidFill>
              <a:latin typeface="Georgia" pitchFamily="0" charset="0"/>
              <a:ea typeface="Georgia" pitchFamily="0" charset="0"/>
              <a:cs typeface="Georgia" pitchFamily="0" charset="0"/>
            </a:endParaRPr>
          </a:p>
        </p:txBody>
      </p:sp>
      <p:sp>
        <p:nvSpPr>
          <p:cNvPr id="70" name="Rectangle"/>
          <p:cNvSpPr>
            <a:spLocks/>
          </p:cNvSpPr>
          <p:nvPr/>
        </p:nvSpPr>
        <p:spPr>
          <a:xfrm rot="0">
            <a:off x="457200" y="1463040"/>
            <a:ext cx="256030" cy="45720"/>
          </a:xfrm>
          <a:prstGeom prst="rect"/>
          <a:solidFill>
            <a:srgbClr val="7C93F0"/>
          </a:solidFill>
          <a:ln w="12700" cmpd="sng" cap="flat">
            <a:solidFill>
              <a:srgbClr val="7C93F0"/>
            </a:solidFill>
            <a:prstDash val="solid"/>
            <a:round/>
          </a:ln>
        </p:spPr>
      </p:sp>
      <p:sp>
        <p:nvSpPr>
          <p:cNvPr id="71" name="Rectangle"/>
          <p:cNvSpPr>
            <a:spLocks/>
          </p:cNvSpPr>
          <p:nvPr/>
        </p:nvSpPr>
        <p:spPr>
          <a:xfrm rot="0">
            <a:off x="731520" y="1463040"/>
            <a:ext cx="256029" cy="45720"/>
          </a:xfrm>
          <a:prstGeom prst="rect"/>
          <a:solidFill>
            <a:srgbClr val="E8639F"/>
          </a:solidFill>
          <a:ln w="12700" cmpd="sng" cap="flat">
            <a:solidFill>
              <a:srgbClr val="E8639F"/>
            </a:solidFill>
            <a:prstDash val="solid"/>
            <a:round/>
          </a:ln>
        </p:spPr>
      </p:sp>
      <p:sp>
        <p:nvSpPr>
          <p:cNvPr id="72" name="Rectangle"/>
          <p:cNvSpPr>
            <a:spLocks/>
          </p:cNvSpPr>
          <p:nvPr/>
        </p:nvSpPr>
        <p:spPr>
          <a:xfrm rot="0">
            <a:off x="1005839" y="1463040"/>
            <a:ext cx="256029" cy="45720"/>
          </a:xfrm>
          <a:prstGeom prst="rect"/>
          <a:solidFill>
            <a:srgbClr val="5B3BA8"/>
          </a:solidFill>
          <a:ln w="12700" cmpd="sng" cap="flat">
            <a:solidFill>
              <a:srgbClr val="5B3BA8"/>
            </a:solidFill>
            <a:prstDash val="solid"/>
            <a:round/>
          </a:ln>
        </p:spPr>
      </p:sp>
      <p:sp>
        <p:nvSpPr>
          <p:cNvPr id="73" name="Rounded rectangle"/>
          <p:cNvSpPr>
            <a:spLocks/>
          </p:cNvSpPr>
          <p:nvPr/>
        </p:nvSpPr>
        <p:spPr>
          <a:xfrm rot="0">
            <a:off x="457200" y="1691639"/>
            <a:ext cx="8229600" cy="2999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64008" anchor="t" anchorCtr="0" upright="1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THE PROBLEM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Crop diseases are often noticed only after visible symptoms appear. By then, infection may have spread and farmers may resort to blanket spraying.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THE GAP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Manual scouting is slow and subjective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Weather and leaf symptoms are rarely analysed together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Small farms lack affordable, actionable early warnings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Late intervention increases avoidable crop and input losses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74" name="Rectangle"/>
          <p:cNvSpPr>
            <a:spLocks/>
          </p:cNvSpPr>
          <p:nvPr/>
        </p:nvSpPr>
        <p:spPr>
          <a:xfrm rot="0">
            <a:off x="685800" y="1691639"/>
            <a:ext cx="822960" cy="54861"/>
          </a:xfrm>
          <a:prstGeom prst="rect"/>
          <a:solidFill>
            <a:srgbClr val="7C93F0"/>
          </a:solidFill>
          <a:ln w="12700" cmpd="sng" cap="flat">
            <a:solidFill>
              <a:srgbClr val="7C93F0"/>
            </a:solidFill>
            <a:prstDash val="solid"/>
            <a:round/>
          </a:ln>
        </p:spPr>
      </p:sp>
      <p:sp>
        <p:nvSpPr>
          <p:cNvPr id="75" name="Rectangle"/>
          <p:cNvSpPr>
            <a:spLocks noGrp="1"/>
          </p:cNvSpPr>
          <p:nvPr>
            <p:ph type="sldNum"/>
          </p:nvPr>
        </p:nvSpPr>
        <p:spPr>
          <a:xfrm rot="0">
            <a:off x="8321040" y="4864608"/>
            <a:ext cx="365758" cy="27431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900" b="1" i="0" u="none" strike="noStrike" kern="1200" cap="none" spc="0" baseline="0">
                <a:solidFill>
                  <a:srgbClr val="2E1B5B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900" b="0" i="0" u="none" strike="noStrike" kern="1200" cap="none" spc="0" baseline="0">
              <a:solidFill>
                <a:srgbClr val="2E1B5B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303489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"/>
          <p:cNvSpPr>
            <a:spLocks noGrp="1"/>
          </p:cNvSpPr>
          <p:nvPr>
            <p:ph type="title" idx="120"/>
          </p:nvPr>
        </p:nvSpPr>
        <p:spPr>
          <a:xfrm rot="0">
            <a:off x="457200" y="841248"/>
            <a:ext cx="630936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1B5B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Objectives &amp; Novelty</a:t>
            </a:r>
            <a:endParaRPr lang="zh-CN" altLang="en-US" sz="2600" b="1" i="0" u="none" strike="noStrike" kern="1200" cap="none" spc="0" baseline="0">
              <a:solidFill>
                <a:srgbClr val="2E1B5B"/>
              </a:solidFill>
              <a:latin typeface="Georgia" pitchFamily="0" charset="0"/>
              <a:ea typeface="Georgia" pitchFamily="0" charset="0"/>
              <a:cs typeface="Georgia" pitchFamily="0" charset="0"/>
            </a:endParaRPr>
          </a:p>
        </p:txBody>
      </p:sp>
      <p:sp>
        <p:nvSpPr>
          <p:cNvPr id="82" name="Rectangle"/>
          <p:cNvSpPr>
            <a:spLocks/>
          </p:cNvSpPr>
          <p:nvPr/>
        </p:nvSpPr>
        <p:spPr>
          <a:xfrm rot="0">
            <a:off x="457200" y="1463040"/>
            <a:ext cx="256030" cy="45720"/>
          </a:xfrm>
          <a:prstGeom prst="rect"/>
          <a:solidFill>
            <a:srgbClr val="7C93F0"/>
          </a:solidFill>
          <a:ln w="12700" cmpd="sng" cap="flat">
            <a:solidFill>
              <a:srgbClr val="7C93F0"/>
            </a:solidFill>
            <a:prstDash val="solid"/>
            <a:round/>
          </a:ln>
        </p:spPr>
      </p:sp>
      <p:sp>
        <p:nvSpPr>
          <p:cNvPr id="83" name="Rectangle"/>
          <p:cNvSpPr>
            <a:spLocks/>
          </p:cNvSpPr>
          <p:nvPr/>
        </p:nvSpPr>
        <p:spPr>
          <a:xfrm rot="0">
            <a:off x="731520" y="1463040"/>
            <a:ext cx="256029" cy="45720"/>
          </a:xfrm>
          <a:prstGeom prst="rect"/>
          <a:solidFill>
            <a:srgbClr val="E8639F"/>
          </a:solidFill>
          <a:ln w="12700" cmpd="sng" cap="flat">
            <a:solidFill>
              <a:srgbClr val="E8639F"/>
            </a:solidFill>
            <a:prstDash val="solid"/>
            <a:round/>
          </a:ln>
        </p:spPr>
      </p:sp>
      <p:sp>
        <p:nvSpPr>
          <p:cNvPr id="84" name="Rectangle"/>
          <p:cNvSpPr>
            <a:spLocks/>
          </p:cNvSpPr>
          <p:nvPr/>
        </p:nvSpPr>
        <p:spPr>
          <a:xfrm rot="0">
            <a:off x="1005839" y="1463040"/>
            <a:ext cx="256029" cy="45720"/>
          </a:xfrm>
          <a:prstGeom prst="rect"/>
          <a:solidFill>
            <a:srgbClr val="5B3BA8"/>
          </a:solidFill>
          <a:ln w="12700" cmpd="sng" cap="flat">
            <a:solidFill>
              <a:srgbClr val="5B3BA8"/>
            </a:solidFill>
            <a:prstDash val="solid"/>
            <a:round/>
          </a:ln>
        </p:spPr>
      </p:sp>
      <p:sp>
        <p:nvSpPr>
          <p:cNvPr id="85" name="Rounded rectangle"/>
          <p:cNvSpPr>
            <a:spLocks/>
          </p:cNvSpPr>
          <p:nvPr/>
        </p:nvSpPr>
        <p:spPr>
          <a:xfrm rot="0">
            <a:off x="457200" y="1691639"/>
            <a:ext cx="8229600" cy="2999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64008" anchor="t" anchorCtr="0" upright="1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OUR GOAL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Build an explainable early-warning assistant for crop health using classical AI and an experimental quantum-learning layer.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WHAT MAKES IT DISTINCT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Fuses leaf-image features with weather, soil and leaf-wetness signals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Compares a classical baseline with a variational quantum classifier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Converts model output into zone-level risk and practical next steps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Designed for low-cost, targeted intervention—not blanket spraying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86" name="Rectangle"/>
          <p:cNvSpPr>
            <a:spLocks/>
          </p:cNvSpPr>
          <p:nvPr/>
        </p:nvSpPr>
        <p:spPr>
          <a:xfrm rot="0">
            <a:off x="685800" y="1691639"/>
            <a:ext cx="822960" cy="54861"/>
          </a:xfrm>
          <a:prstGeom prst="rect"/>
          <a:solidFill>
            <a:srgbClr val="E8639F"/>
          </a:solidFill>
          <a:ln w="12700" cmpd="sng" cap="flat">
            <a:solidFill>
              <a:srgbClr val="E8639F"/>
            </a:solidFill>
            <a:prstDash val="solid"/>
            <a:round/>
          </a:ln>
        </p:spPr>
      </p:sp>
      <p:sp>
        <p:nvSpPr>
          <p:cNvPr id="87" name="Rectangle"/>
          <p:cNvSpPr>
            <a:spLocks/>
          </p:cNvSpPr>
          <p:nvPr/>
        </p:nvSpPr>
        <p:spPr>
          <a:xfrm rot="0">
            <a:off x="731520" y="1874520"/>
            <a:ext cx="3200400" cy="274319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88" name="Rectangle"/>
          <p:cNvSpPr>
            <a:spLocks noGrp="1"/>
          </p:cNvSpPr>
          <p:nvPr>
            <p:ph type="sldNum"/>
          </p:nvPr>
        </p:nvSpPr>
        <p:spPr>
          <a:xfrm rot="0">
            <a:off x="8321040" y="4864608"/>
            <a:ext cx="365758" cy="27431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900" b="1" i="0" u="none" strike="noStrike" kern="1200" cap="none" spc="0" baseline="0">
                <a:solidFill>
                  <a:srgbClr val="2E1B5B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900" b="0" i="0" u="none" strike="noStrike" kern="1200" cap="none" spc="0" baseline="0">
              <a:solidFill>
                <a:srgbClr val="2E1B5B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270510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box"/>
          <p:cNvSpPr>
            <a:spLocks noGrp="1"/>
          </p:cNvSpPr>
          <p:nvPr>
            <p:ph type="title" idx="120"/>
          </p:nvPr>
        </p:nvSpPr>
        <p:spPr>
          <a:xfrm rot="0">
            <a:off x="457200" y="841248"/>
            <a:ext cx="630936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1B5B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Solution &amp; Quantum Advantage</a:t>
            </a:r>
            <a:endParaRPr lang="zh-CN" altLang="en-US" sz="2600" b="1" i="0" u="none" strike="noStrike" kern="1200" cap="none" spc="0" baseline="0">
              <a:solidFill>
                <a:srgbClr val="2E1B5B"/>
              </a:solidFill>
              <a:latin typeface="Georgia" pitchFamily="0" charset="0"/>
              <a:ea typeface="Georgia" pitchFamily="0" charset="0"/>
              <a:cs typeface="Georgia" pitchFamily="0" charset="0"/>
            </a:endParaRPr>
          </a:p>
        </p:txBody>
      </p:sp>
      <p:sp>
        <p:nvSpPr>
          <p:cNvPr id="95" name="Rectangle"/>
          <p:cNvSpPr>
            <a:spLocks/>
          </p:cNvSpPr>
          <p:nvPr/>
        </p:nvSpPr>
        <p:spPr>
          <a:xfrm rot="0">
            <a:off x="457200" y="1463040"/>
            <a:ext cx="256030" cy="45720"/>
          </a:xfrm>
          <a:prstGeom prst="rect"/>
          <a:solidFill>
            <a:srgbClr val="7C93F0"/>
          </a:solidFill>
          <a:ln w="12700" cmpd="sng" cap="flat">
            <a:solidFill>
              <a:srgbClr val="7C93F0"/>
            </a:solidFill>
            <a:prstDash val="solid"/>
            <a:round/>
          </a:ln>
        </p:spPr>
      </p:sp>
      <p:sp>
        <p:nvSpPr>
          <p:cNvPr id="96" name="Rectangle"/>
          <p:cNvSpPr>
            <a:spLocks/>
          </p:cNvSpPr>
          <p:nvPr/>
        </p:nvSpPr>
        <p:spPr>
          <a:xfrm rot="0">
            <a:off x="731520" y="1463040"/>
            <a:ext cx="256029" cy="45720"/>
          </a:xfrm>
          <a:prstGeom prst="rect"/>
          <a:solidFill>
            <a:srgbClr val="E8639F"/>
          </a:solidFill>
          <a:ln w="12700" cmpd="sng" cap="flat">
            <a:solidFill>
              <a:srgbClr val="E8639F"/>
            </a:solidFill>
            <a:prstDash val="solid"/>
            <a:round/>
          </a:ln>
        </p:spPr>
      </p:sp>
      <p:sp>
        <p:nvSpPr>
          <p:cNvPr id="97" name="Rectangle"/>
          <p:cNvSpPr>
            <a:spLocks/>
          </p:cNvSpPr>
          <p:nvPr/>
        </p:nvSpPr>
        <p:spPr>
          <a:xfrm rot="0">
            <a:off x="1005839" y="1463040"/>
            <a:ext cx="256029" cy="45720"/>
          </a:xfrm>
          <a:prstGeom prst="rect"/>
          <a:solidFill>
            <a:srgbClr val="5B3BA8"/>
          </a:solidFill>
          <a:ln w="12700" cmpd="sng" cap="flat">
            <a:solidFill>
              <a:srgbClr val="5B3BA8"/>
            </a:solidFill>
            <a:prstDash val="solid"/>
            <a:round/>
          </a:ln>
        </p:spPr>
      </p:sp>
      <p:sp>
        <p:nvSpPr>
          <p:cNvPr id="98" name="Rounded rectangle"/>
          <p:cNvSpPr>
            <a:spLocks/>
          </p:cNvSpPr>
          <p:nvPr/>
        </p:nvSpPr>
        <p:spPr>
          <a:xfrm rot="0">
            <a:off x="457200" y="1691639"/>
            <a:ext cx="8229600" cy="2999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64008" anchor="t" anchorCtr="0" upright="1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THE QUANTUMLEAF WORKFLOW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1. Capture a leaf image and collect local weather / soil readings.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2. Extract compact visual and environmental features.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3. Clean, normalize and select the most informative features.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4. Run a classical ML baseline and a Variational Quantum Classifier (VQC).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5. Compare predictions; flag uncertain cases for human review.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6. Display risk by field zone with a recommended scouting action.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QUANTUM ROLE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A small qubit circuit maps selected features into a trainable quantum state. Its measured outputs feed a classical classifier. Any advantage must be demonstrated against a fair classical baseline.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99" name="Rectangle"/>
          <p:cNvSpPr>
            <a:spLocks/>
          </p:cNvSpPr>
          <p:nvPr/>
        </p:nvSpPr>
        <p:spPr>
          <a:xfrm rot="0">
            <a:off x="685800" y="1691639"/>
            <a:ext cx="822960" cy="54861"/>
          </a:xfrm>
          <a:prstGeom prst="rect"/>
          <a:solidFill>
            <a:srgbClr val="5B3BA8"/>
          </a:solidFill>
          <a:ln w="12700" cmpd="sng" cap="flat">
            <a:solidFill>
              <a:srgbClr val="5B3BA8"/>
            </a:solidFill>
            <a:prstDash val="solid"/>
            <a:round/>
          </a:ln>
        </p:spPr>
      </p:sp>
      <p:sp>
        <p:nvSpPr>
          <p:cNvPr id="100" name="Rectangle"/>
          <p:cNvSpPr>
            <a:spLocks/>
          </p:cNvSpPr>
          <p:nvPr/>
        </p:nvSpPr>
        <p:spPr>
          <a:xfrm rot="0">
            <a:off x="731520" y="1874520"/>
            <a:ext cx="3200400" cy="274319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01" name="Rectangle"/>
          <p:cNvSpPr>
            <a:spLocks noGrp="1"/>
          </p:cNvSpPr>
          <p:nvPr>
            <p:ph type="sldNum"/>
          </p:nvPr>
        </p:nvSpPr>
        <p:spPr>
          <a:xfrm rot="0">
            <a:off x="8321040" y="4864608"/>
            <a:ext cx="365758" cy="27431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900" b="1" i="0" u="none" strike="noStrike" kern="1200" cap="none" spc="0" baseline="0">
                <a:solidFill>
                  <a:srgbClr val="2E1B5B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900" b="0" i="0" u="none" strike="noStrike" kern="1200" cap="none" spc="0" baseline="0">
              <a:solidFill>
                <a:srgbClr val="2E1B5B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663671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box"/>
          <p:cNvSpPr>
            <a:spLocks noGrp="1"/>
          </p:cNvSpPr>
          <p:nvPr>
            <p:ph type="title" idx="120"/>
          </p:nvPr>
        </p:nvSpPr>
        <p:spPr>
          <a:xfrm rot="0">
            <a:off x="457200" y="841248"/>
            <a:ext cx="630936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1B5B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Algorithm &amp; Circuit Design</a:t>
            </a:r>
            <a:endParaRPr lang="zh-CN" altLang="en-US" sz="2600" b="1" i="0" u="none" strike="noStrike" kern="1200" cap="none" spc="0" baseline="0">
              <a:solidFill>
                <a:srgbClr val="2E1B5B"/>
              </a:solidFill>
              <a:latin typeface="Georgia" pitchFamily="0" charset="0"/>
              <a:ea typeface="Georgia" pitchFamily="0" charset="0"/>
              <a:cs typeface="Georgia" pitchFamily="0" charset="0"/>
            </a:endParaRPr>
          </a:p>
        </p:txBody>
      </p:sp>
      <p:sp>
        <p:nvSpPr>
          <p:cNvPr id="108" name="Rectangle"/>
          <p:cNvSpPr>
            <a:spLocks/>
          </p:cNvSpPr>
          <p:nvPr/>
        </p:nvSpPr>
        <p:spPr>
          <a:xfrm rot="0">
            <a:off x="457200" y="1463040"/>
            <a:ext cx="256030" cy="45720"/>
          </a:xfrm>
          <a:prstGeom prst="rect"/>
          <a:solidFill>
            <a:srgbClr val="7C93F0"/>
          </a:solidFill>
          <a:ln w="12700" cmpd="sng" cap="flat">
            <a:solidFill>
              <a:srgbClr val="7C93F0"/>
            </a:solidFill>
            <a:prstDash val="solid"/>
            <a:round/>
          </a:ln>
        </p:spPr>
      </p:sp>
      <p:sp>
        <p:nvSpPr>
          <p:cNvPr id="109" name="Rectangle"/>
          <p:cNvSpPr>
            <a:spLocks/>
          </p:cNvSpPr>
          <p:nvPr/>
        </p:nvSpPr>
        <p:spPr>
          <a:xfrm rot="0">
            <a:off x="731520" y="1463040"/>
            <a:ext cx="256029" cy="45720"/>
          </a:xfrm>
          <a:prstGeom prst="rect"/>
          <a:solidFill>
            <a:srgbClr val="E8639F"/>
          </a:solidFill>
          <a:ln w="12700" cmpd="sng" cap="flat">
            <a:solidFill>
              <a:srgbClr val="E8639F"/>
            </a:solidFill>
            <a:prstDash val="solid"/>
            <a:round/>
          </a:ln>
        </p:spPr>
      </p:sp>
      <p:sp>
        <p:nvSpPr>
          <p:cNvPr id="110" name="Rectangle"/>
          <p:cNvSpPr>
            <a:spLocks/>
          </p:cNvSpPr>
          <p:nvPr/>
        </p:nvSpPr>
        <p:spPr>
          <a:xfrm rot="0">
            <a:off x="1005839" y="1463040"/>
            <a:ext cx="256029" cy="45720"/>
          </a:xfrm>
          <a:prstGeom prst="rect"/>
          <a:solidFill>
            <a:srgbClr val="5B3BA8"/>
          </a:solidFill>
          <a:ln w="12700" cmpd="sng" cap="flat">
            <a:solidFill>
              <a:srgbClr val="5B3BA8"/>
            </a:solidFill>
            <a:prstDash val="solid"/>
            <a:round/>
          </a:ln>
        </p:spPr>
      </p:sp>
      <p:sp>
        <p:nvSpPr>
          <p:cNvPr id="111" name="Rounded rectangle"/>
          <p:cNvSpPr>
            <a:spLocks/>
          </p:cNvSpPr>
          <p:nvPr/>
        </p:nvSpPr>
        <p:spPr>
          <a:xfrm rot="0">
            <a:off x="457200" y="1691639"/>
            <a:ext cx="4937760" cy="2999232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 cmpd="sng" cap="flat">
            <a:solidFill>
              <a:srgbClr val="7C93F0"/>
            </a:solidFill>
            <a:prstDash val="dash"/>
            <a:round/>
          </a:ln>
        </p:spPr>
        <p:txBody>
          <a:bodyPr vert="horz" wrap="square" lIns="118871" tIns="82296" rIns="118871" bIns="54864" anchor="t" anchorCtr="0" upright="1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1" i="0" u="none" strike="noStrike" kern="1200" cap="none" spc="0" baseline="0">
                <a:solidFill>
                  <a:srgbClr val="452F82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HYBRID MODEL PIPELINE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1  Labelled leaf images + field conditions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2  Clean, resize and select compact features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3  Encode features as qubit rotation angles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4  Train a variational quantum classifier (VQC)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5  Measure outputs; predict healthy / disease class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1" i="0" u="none" strike="noStrike" kern="1200" cap="none" spc="0" baseline="0">
                <a:solidFill>
                  <a:srgbClr val="452F82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FAIR EVALUATION</a:t>
            </a:r>
            <a:endParaRPr lang="en-US" altLang="zh-CN" sz="1030" b="1" i="0" u="none" strike="noStrike" kern="1200" cap="none" spc="0" baseline="0">
              <a:solidFill>
                <a:srgbClr val="452F82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Compare VQC with a classical baseline on identical data splits.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Report accuracy, precision, recall, F1, confusion matrix and runtime.</a:t>
            </a:r>
            <a:endParaRPr lang="zh-CN" altLang="en-US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12" name="Rounded rectangle"/>
          <p:cNvSpPr>
            <a:spLocks/>
          </p:cNvSpPr>
          <p:nvPr/>
        </p:nvSpPr>
        <p:spPr>
          <a:xfrm rot="0">
            <a:off x="5577840" y="1691639"/>
            <a:ext cx="3108960" cy="2999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54864" anchor="t" anchorCtr="0" upright="1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1" i="0" u="none" strike="noStrike" kern="1200" cap="none" spc="0" baseline="0">
                <a:solidFill>
                  <a:srgbClr val="452F82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ILLUSTRATIVE 3-QUBIT CIRCUIT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q0: ─H─Ry(x1)─●──Ry(θ1)─M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                 │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q1: ─H─Ry(x2)─X─●─Ry(θ2)─M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                    │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q2: ─H─Ry(x3)───X─Ry(θ3)─M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H: superposition  •  Ry(x): encoding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zh-CN" altLang="en-US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●–X: entangling CNOT  •  Ry(θ): trainable gate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M: measurement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Proposed VQC layout; validate gate mapping and qubit count in Qiskit.</a:t>
            </a:r>
            <a:endParaRPr lang="zh-CN" altLang="en-US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13" name="Rectangle"/>
          <p:cNvSpPr>
            <a:spLocks/>
          </p:cNvSpPr>
          <p:nvPr/>
        </p:nvSpPr>
        <p:spPr>
          <a:xfrm rot="0">
            <a:off x="5806440" y="1691639"/>
            <a:ext cx="822958" cy="54861"/>
          </a:xfrm>
          <a:prstGeom prst="rect"/>
          <a:solidFill>
            <a:srgbClr val="7C93F0"/>
          </a:solidFill>
          <a:ln w="12700" cmpd="sng" cap="flat">
            <a:solidFill>
              <a:srgbClr val="7C93F0"/>
            </a:solidFill>
            <a:prstDash val="solid"/>
            <a:round/>
          </a:ln>
        </p:spPr>
      </p:sp>
      <p:sp>
        <p:nvSpPr>
          <p:cNvPr id="114" name="Rectangle"/>
          <p:cNvSpPr>
            <a:spLocks/>
          </p:cNvSpPr>
          <p:nvPr/>
        </p:nvSpPr>
        <p:spPr>
          <a:xfrm rot="0">
            <a:off x="5806440" y="1874520"/>
            <a:ext cx="3200400" cy="274319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5" name="Rectangle"/>
          <p:cNvSpPr>
            <a:spLocks noGrp="1"/>
          </p:cNvSpPr>
          <p:nvPr>
            <p:ph type="sldNum"/>
          </p:nvPr>
        </p:nvSpPr>
        <p:spPr>
          <a:xfrm rot="0">
            <a:off x="8321040" y="4864608"/>
            <a:ext cx="365758" cy="27431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900" b="1" i="0" u="none" strike="noStrike" kern="1200" cap="none" spc="0" baseline="0">
                <a:solidFill>
                  <a:srgbClr val="2E1B5B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900" b="0" i="0" u="none" strike="noStrike" kern="1200" cap="none" spc="0" baseline="0">
              <a:solidFill>
                <a:srgbClr val="2E1B5B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484143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box"/>
          <p:cNvSpPr>
            <a:spLocks noGrp="1"/>
          </p:cNvSpPr>
          <p:nvPr>
            <p:ph type="title" idx="120"/>
          </p:nvPr>
        </p:nvSpPr>
        <p:spPr>
          <a:xfrm rot="0">
            <a:off x="457200" y="841248"/>
            <a:ext cx="630936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1B5B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Implementation &amp; Tech Stack</a:t>
            </a:r>
            <a:endParaRPr lang="zh-CN" altLang="en-US" sz="2600" b="1" i="0" u="none" strike="noStrike" kern="1200" cap="none" spc="0" baseline="0">
              <a:solidFill>
                <a:srgbClr val="2E1B5B"/>
              </a:solidFill>
              <a:latin typeface="Georgia" pitchFamily="0" charset="0"/>
              <a:ea typeface="Georgia" pitchFamily="0" charset="0"/>
              <a:cs typeface="Georgia" pitchFamily="0" charset="0"/>
            </a:endParaRPr>
          </a:p>
        </p:txBody>
      </p:sp>
      <p:sp>
        <p:nvSpPr>
          <p:cNvPr id="122" name="Rectangle"/>
          <p:cNvSpPr>
            <a:spLocks/>
          </p:cNvSpPr>
          <p:nvPr/>
        </p:nvSpPr>
        <p:spPr>
          <a:xfrm rot="0">
            <a:off x="457200" y="1463040"/>
            <a:ext cx="256030" cy="45720"/>
          </a:xfrm>
          <a:prstGeom prst="rect"/>
          <a:solidFill>
            <a:srgbClr val="7C93F0"/>
          </a:solidFill>
          <a:ln w="12700" cmpd="sng" cap="flat">
            <a:solidFill>
              <a:srgbClr val="7C93F0"/>
            </a:solidFill>
            <a:prstDash val="solid"/>
            <a:round/>
          </a:ln>
        </p:spPr>
      </p:sp>
      <p:sp>
        <p:nvSpPr>
          <p:cNvPr id="123" name="Rectangle"/>
          <p:cNvSpPr>
            <a:spLocks/>
          </p:cNvSpPr>
          <p:nvPr/>
        </p:nvSpPr>
        <p:spPr>
          <a:xfrm rot="0">
            <a:off x="731520" y="1463040"/>
            <a:ext cx="256029" cy="45720"/>
          </a:xfrm>
          <a:prstGeom prst="rect"/>
          <a:solidFill>
            <a:srgbClr val="E8639F"/>
          </a:solidFill>
          <a:ln w="12700" cmpd="sng" cap="flat">
            <a:solidFill>
              <a:srgbClr val="E8639F"/>
            </a:solidFill>
            <a:prstDash val="solid"/>
            <a:round/>
          </a:ln>
        </p:spPr>
      </p:sp>
      <p:sp>
        <p:nvSpPr>
          <p:cNvPr id="124" name="Rectangle"/>
          <p:cNvSpPr>
            <a:spLocks/>
          </p:cNvSpPr>
          <p:nvPr/>
        </p:nvSpPr>
        <p:spPr>
          <a:xfrm rot="0">
            <a:off x="1005839" y="1463040"/>
            <a:ext cx="256029" cy="45720"/>
          </a:xfrm>
          <a:prstGeom prst="rect"/>
          <a:solidFill>
            <a:srgbClr val="5B3BA8"/>
          </a:solidFill>
          <a:ln w="12700" cmpd="sng" cap="flat">
            <a:solidFill>
              <a:srgbClr val="5B3BA8"/>
            </a:solidFill>
            <a:prstDash val="solid"/>
            <a:round/>
          </a:ln>
        </p:spPr>
      </p:sp>
      <p:sp>
        <p:nvSpPr>
          <p:cNvPr id="125" name="Rounded rectangle"/>
          <p:cNvSpPr>
            <a:spLocks/>
          </p:cNvSpPr>
          <p:nvPr/>
        </p:nvSpPr>
        <p:spPr>
          <a:xfrm rot="0">
            <a:off x="457200" y="1691639"/>
            <a:ext cx="8229600" cy="2999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54864" anchor="t" anchorCtr="0" upright="1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1" i="0" u="none" strike="noStrike" kern="1200" cap="none" spc="0" baseline="0">
                <a:solidFill>
                  <a:srgbClr val="452F82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SOFTWARE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Python • Qiskit • NumPy • Pandas • scikit-learn</a:t>
            </a:r>
            <a:endParaRPr lang="en-US" altLang="zh-CN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1" i="0" u="none" strike="noStrike" kern="1200" cap="none" spc="0" baseline="0">
                <a:solidFill>
                  <a:srgbClr val="452F82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QUANTUM WORKFLOW</a:t>
            </a:r>
            <a:endParaRPr lang="en-US" altLang="zh-CN" sz="1080" b="1" i="0" u="none" strike="noStrike" kern="1200" cap="none" spc="0" baseline="0">
              <a:solidFill>
                <a:srgbClr val="452F82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Build and test on the Qiskit simulator. Use IBM Quantum hardware only when access permits; evaluate noise and runtime.</a:t>
            </a:r>
            <a:endParaRPr lang="en-US" altLang="zh-CN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1" i="0" u="none" strike="noStrike" kern="1200" cap="none" spc="0" baseline="0">
                <a:solidFill>
                  <a:srgbClr val="452F82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DATA INPUTS</a:t>
            </a:r>
            <a:endParaRPr lang="en-US" altLang="zh-CN" sz="1080" b="1" i="0" u="none" strike="noStrike" kern="1200" cap="none" spc="0" baseline="0">
              <a:solidFill>
                <a:srgbClr val="452F82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Public labelled leaf images; optional soil, temperature, humidity and leaf-wetness readings.</a:t>
            </a:r>
            <a:endParaRPr lang="en-US" altLang="zh-CN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1" i="0" u="none" strike="noStrike" kern="1200" cap="none" spc="0" baseline="0">
                <a:solidFill>
                  <a:srgbClr val="452F82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PROTOTYPE STATUS</a:t>
            </a:r>
            <a:endParaRPr lang="en-US" altLang="zh-CN" sz="1080" b="1" i="0" u="none" strike="noStrike" kern="1200" cap="none" spc="0" baseline="0">
              <a:solidFill>
                <a:srgbClr val="452F82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Dashboard values, field telemetry and outbreak timeline are illustrative / synthetic. Live sensors, drone feeds and real-QPU runs are future integrations.</a:t>
            </a:r>
            <a:endParaRPr lang="zh-CN" altLang="en-US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26" name="Rectangle"/>
          <p:cNvSpPr>
            <a:spLocks/>
          </p:cNvSpPr>
          <p:nvPr/>
        </p:nvSpPr>
        <p:spPr>
          <a:xfrm rot="0">
            <a:off x="685800" y="1691639"/>
            <a:ext cx="822960" cy="54861"/>
          </a:xfrm>
          <a:prstGeom prst="rect"/>
          <a:solidFill>
            <a:srgbClr val="E8639F"/>
          </a:solidFill>
          <a:ln w="12700" cmpd="sng" cap="flat">
            <a:solidFill>
              <a:srgbClr val="E8639F"/>
            </a:solidFill>
            <a:prstDash val="solid"/>
            <a:round/>
          </a:ln>
        </p:spPr>
      </p:sp>
      <p:sp>
        <p:nvSpPr>
          <p:cNvPr id="127" name="Rectangle"/>
          <p:cNvSpPr>
            <a:spLocks/>
          </p:cNvSpPr>
          <p:nvPr/>
        </p:nvSpPr>
        <p:spPr>
          <a:xfrm rot="0">
            <a:off x="731520" y="1874520"/>
            <a:ext cx="3200400" cy="274319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28" name="Rectangle"/>
          <p:cNvSpPr>
            <a:spLocks noGrp="1"/>
          </p:cNvSpPr>
          <p:nvPr>
            <p:ph type="sldNum"/>
          </p:nvPr>
        </p:nvSpPr>
        <p:spPr>
          <a:xfrm rot="0">
            <a:off x="8321040" y="4864608"/>
            <a:ext cx="365758" cy="27431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900" b="1" i="0" u="none" strike="noStrike" kern="1200" cap="none" spc="0" baseline="0">
                <a:solidFill>
                  <a:srgbClr val="2E1B5B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900" b="0" i="0" u="none" strike="noStrike" kern="1200" cap="none" spc="0" baseline="0">
              <a:solidFill>
                <a:srgbClr val="2E1B5B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745862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box"/>
          <p:cNvSpPr>
            <a:spLocks noGrp="1"/>
          </p:cNvSpPr>
          <p:nvPr>
            <p:ph type="title" idx="120"/>
          </p:nvPr>
        </p:nvSpPr>
        <p:spPr>
          <a:xfrm rot="0">
            <a:off x="457200" y="841248"/>
            <a:ext cx="630936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1B5B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Results &amp; Analysis</a:t>
            </a:r>
            <a:endParaRPr lang="zh-CN" altLang="en-US" sz="2600" b="1" i="0" u="none" strike="noStrike" kern="1200" cap="none" spc="0" baseline="0">
              <a:solidFill>
                <a:srgbClr val="2E1B5B"/>
              </a:solidFill>
              <a:latin typeface="Georgia" pitchFamily="0" charset="0"/>
              <a:ea typeface="Georgia" pitchFamily="0" charset="0"/>
              <a:cs typeface="Georgia" pitchFamily="0" charset="0"/>
            </a:endParaRPr>
          </a:p>
        </p:txBody>
      </p:sp>
      <p:sp>
        <p:nvSpPr>
          <p:cNvPr id="135" name="Rectangle"/>
          <p:cNvSpPr>
            <a:spLocks/>
          </p:cNvSpPr>
          <p:nvPr/>
        </p:nvSpPr>
        <p:spPr>
          <a:xfrm rot="0">
            <a:off x="457200" y="1463040"/>
            <a:ext cx="256030" cy="45720"/>
          </a:xfrm>
          <a:prstGeom prst="rect"/>
          <a:solidFill>
            <a:srgbClr val="7C93F0"/>
          </a:solidFill>
          <a:ln w="12700" cmpd="sng" cap="flat">
            <a:solidFill>
              <a:srgbClr val="7C93F0"/>
            </a:solidFill>
            <a:prstDash val="solid"/>
            <a:round/>
          </a:ln>
        </p:spPr>
      </p:sp>
      <p:sp>
        <p:nvSpPr>
          <p:cNvPr id="136" name="Rectangle"/>
          <p:cNvSpPr>
            <a:spLocks/>
          </p:cNvSpPr>
          <p:nvPr/>
        </p:nvSpPr>
        <p:spPr>
          <a:xfrm rot="0">
            <a:off x="731520" y="1463040"/>
            <a:ext cx="256029" cy="45720"/>
          </a:xfrm>
          <a:prstGeom prst="rect"/>
          <a:solidFill>
            <a:srgbClr val="E8639F"/>
          </a:solidFill>
          <a:ln w="12700" cmpd="sng" cap="flat">
            <a:solidFill>
              <a:srgbClr val="E8639F"/>
            </a:solidFill>
            <a:prstDash val="solid"/>
            <a:round/>
          </a:ln>
        </p:spPr>
      </p:sp>
      <p:sp>
        <p:nvSpPr>
          <p:cNvPr id="137" name="Rectangle"/>
          <p:cNvSpPr>
            <a:spLocks/>
          </p:cNvSpPr>
          <p:nvPr/>
        </p:nvSpPr>
        <p:spPr>
          <a:xfrm rot="0">
            <a:off x="1005839" y="1463040"/>
            <a:ext cx="256029" cy="45720"/>
          </a:xfrm>
          <a:prstGeom prst="rect"/>
          <a:solidFill>
            <a:srgbClr val="5B3BA8"/>
          </a:solidFill>
          <a:ln w="12700" cmpd="sng" cap="flat">
            <a:solidFill>
              <a:srgbClr val="5B3BA8"/>
            </a:solidFill>
            <a:prstDash val="solid"/>
            <a:round/>
          </a:ln>
        </p:spPr>
      </p:sp>
      <p:sp>
        <p:nvSpPr>
          <p:cNvPr id="138" name="Rounded rectangle"/>
          <p:cNvSpPr>
            <a:spLocks/>
          </p:cNvSpPr>
          <p:nvPr/>
        </p:nvSpPr>
        <p:spPr>
          <a:xfrm rot="0">
            <a:off x="457200" y="1691639"/>
            <a:ext cx="4937760" cy="2999232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 cmpd="sng" cap="flat">
            <a:solidFill>
              <a:srgbClr val="7C93F0"/>
            </a:solidFill>
            <a:prstDash val="dash"/>
            <a:round/>
          </a:ln>
        </p:spPr>
        <p:txBody>
          <a:bodyPr vert="horz" wrap="square" lIns="118871" tIns="82296" rIns="118871" bIns="64008" anchor="t" anchorCtr="0" upright="1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VALIDATION STATUS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The current dashboard is a proof-of-concept interface. Its sample presets and field heatmap use illustrative / synthetic values; they are not measured farm results.</a:t>
            </a:r>
            <a:endParaRPr lang="en-US" altLang="zh-CN" sz="108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endParaRPr lang="en-US" altLang="zh-CN" sz="108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WHAT WE WILL REPORT</a:t>
            </a:r>
            <a:endParaRPr lang="en-US" altLang="zh-CN" sz="108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Accuracy, precision, recall and macro-F1 on a held-out test set</a:t>
            </a:r>
            <a:endParaRPr lang="en-US" altLang="zh-CN" sz="108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Confusion matrix and per-disease recall</a:t>
            </a:r>
            <a:endParaRPr lang="en-US" altLang="zh-CN" sz="108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Classical ML vs VQC under the same data split</a:t>
            </a:r>
            <a:endParaRPr lang="en-US" altLang="zh-CN" sz="108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Simulator vs hardware results, including noise and runtime</a:t>
            </a:r>
            <a:endParaRPr lang="en-US" altLang="zh-CN" sz="108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Ablation: image-only vs image + field-condition features</a:t>
            </a:r>
            <a:endParaRPr lang="zh-CN" altLang="en-US" sz="108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39" name="Rectangle"/>
          <p:cNvSpPr>
            <a:spLocks/>
          </p:cNvSpPr>
          <p:nvPr/>
        </p:nvSpPr>
        <p:spPr>
          <a:xfrm rot="0">
            <a:off x="640080" y="1874520"/>
            <a:ext cx="4572000" cy="256032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40" name="Rounded rectangle"/>
          <p:cNvSpPr>
            <a:spLocks/>
          </p:cNvSpPr>
          <p:nvPr/>
        </p:nvSpPr>
        <p:spPr>
          <a:xfrm rot="0">
            <a:off x="5577840" y="1691639"/>
            <a:ext cx="3108960" cy="2999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54864" anchor="t" anchorCtr="0" upright="1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1" i="0" u="none" strike="noStrike" kern="1200" cap="none" spc="0" baseline="0">
                <a:solidFill>
                  <a:srgbClr val="452F82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HOW WE WILL PROVE VALUE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A quantum model is not automatically better. Claim an advantage only if repeated, controlled tests beat the classical baseline on a pre-defined metric.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1" i="0" u="none" strike="noStrike" kern="1200" cap="none" spc="0" baseline="0">
                <a:solidFill>
                  <a:srgbClr val="452F82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SUCCESS CRITERIA</a:t>
            </a:r>
            <a:endParaRPr lang="en-US" altLang="zh-CN" sz="1030" b="1" i="0" u="none" strike="noStrike" kern="1200" cap="none" spc="0" baseline="0">
              <a:solidFill>
                <a:srgbClr val="452F82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• High early-disease recall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• Practical false-alarm rate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• Confidence scores + human review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• Reproducible results across random seeds</a:t>
            </a: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3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No accuracy, yield or pesticide-saving percentage is claimed before validation.</a:t>
            </a:r>
            <a:endParaRPr lang="zh-CN" altLang="en-US" sz="103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41" name="Rectangle"/>
          <p:cNvSpPr>
            <a:spLocks/>
          </p:cNvSpPr>
          <p:nvPr/>
        </p:nvSpPr>
        <p:spPr>
          <a:xfrm rot="0">
            <a:off x="5806440" y="1691639"/>
            <a:ext cx="822958" cy="54861"/>
          </a:xfrm>
          <a:prstGeom prst="rect"/>
          <a:solidFill>
            <a:srgbClr val="5B3BA8"/>
          </a:solidFill>
          <a:ln w="12700" cmpd="sng" cap="flat">
            <a:solidFill>
              <a:srgbClr val="5B3BA8"/>
            </a:solidFill>
            <a:prstDash val="solid"/>
            <a:round/>
          </a:ln>
        </p:spPr>
      </p:sp>
      <p:sp>
        <p:nvSpPr>
          <p:cNvPr id="142" name="Rectangle"/>
          <p:cNvSpPr>
            <a:spLocks/>
          </p:cNvSpPr>
          <p:nvPr/>
        </p:nvSpPr>
        <p:spPr>
          <a:xfrm rot="0">
            <a:off x="5806440" y="1874520"/>
            <a:ext cx="3200400" cy="274319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43" name="Rectangle"/>
          <p:cNvSpPr>
            <a:spLocks noGrp="1"/>
          </p:cNvSpPr>
          <p:nvPr>
            <p:ph type="sldNum"/>
          </p:nvPr>
        </p:nvSpPr>
        <p:spPr>
          <a:xfrm rot="0">
            <a:off x="8321040" y="4864608"/>
            <a:ext cx="365758" cy="27431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900" b="1" i="0" u="none" strike="noStrike" kern="1200" cap="none" spc="0" baseline="0">
                <a:solidFill>
                  <a:srgbClr val="2E1B5B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900" b="0" i="0" u="none" strike="noStrike" kern="1200" cap="none" spc="0" baseline="0">
              <a:solidFill>
                <a:srgbClr val="2E1B5B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785035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box"/>
          <p:cNvSpPr>
            <a:spLocks noGrp="1"/>
          </p:cNvSpPr>
          <p:nvPr>
            <p:ph type="title" idx="120"/>
          </p:nvPr>
        </p:nvSpPr>
        <p:spPr>
          <a:xfrm rot="0">
            <a:off x="457200" y="841248"/>
            <a:ext cx="630936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1B5B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Impact &amp; Real-World Applications</a:t>
            </a:r>
            <a:endParaRPr lang="zh-CN" altLang="en-US" sz="2600" b="1" i="0" u="none" strike="noStrike" kern="1200" cap="none" spc="0" baseline="0">
              <a:solidFill>
                <a:srgbClr val="2E1B5B"/>
              </a:solidFill>
              <a:latin typeface="Georgia" pitchFamily="0" charset="0"/>
              <a:ea typeface="Georgia" pitchFamily="0" charset="0"/>
              <a:cs typeface="Georgia" pitchFamily="0" charset="0"/>
            </a:endParaRPr>
          </a:p>
        </p:txBody>
      </p:sp>
      <p:sp>
        <p:nvSpPr>
          <p:cNvPr id="150" name="Rectangle"/>
          <p:cNvSpPr>
            <a:spLocks/>
          </p:cNvSpPr>
          <p:nvPr/>
        </p:nvSpPr>
        <p:spPr>
          <a:xfrm rot="0">
            <a:off x="457200" y="1463040"/>
            <a:ext cx="256030" cy="45720"/>
          </a:xfrm>
          <a:prstGeom prst="rect"/>
          <a:solidFill>
            <a:srgbClr val="7C93F0"/>
          </a:solidFill>
          <a:ln w="12700" cmpd="sng" cap="flat">
            <a:solidFill>
              <a:srgbClr val="7C93F0"/>
            </a:solidFill>
            <a:prstDash val="solid"/>
            <a:round/>
          </a:ln>
        </p:spPr>
      </p:sp>
      <p:sp>
        <p:nvSpPr>
          <p:cNvPr id="151" name="Rectangle"/>
          <p:cNvSpPr>
            <a:spLocks/>
          </p:cNvSpPr>
          <p:nvPr/>
        </p:nvSpPr>
        <p:spPr>
          <a:xfrm rot="0">
            <a:off x="731520" y="1463040"/>
            <a:ext cx="256029" cy="45720"/>
          </a:xfrm>
          <a:prstGeom prst="rect"/>
          <a:solidFill>
            <a:srgbClr val="E8639F"/>
          </a:solidFill>
          <a:ln w="12700" cmpd="sng" cap="flat">
            <a:solidFill>
              <a:srgbClr val="E8639F"/>
            </a:solidFill>
            <a:prstDash val="solid"/>
            <a:round/>
          </a:ln>
        </p:spPr>
      </p:sp>
      <p:sp>
        <p:nvSpPr>
          <p:cNvPr id="152" name="Rectangle"/>
          <p:cNvSpPr>
            <a:spLocks/>
          </p:cNvSpPr>
          <p:nvPr/>
        </p:nvSpPr>
        <p:spPr>
          <a:xfrm rot="0">
            <a:off x="1005839" y="1463040"/>
            <a:ext cx="256029" cy="45720"/>
          </a:xfrm>
          <a:prstGeom prst="rect"/>
          <a:solidFill>
            <a:srgbClr val="5B3BA8"/>
          </a:solidFill>
          <a:ln w="12700" cmpd="sng" cap="flat">
            <a:solidFill>
              <a:srgbClr val="5B3BA8"/>
            </a:solidFill>
            <a:prstDash val="solid"/>
            <a:round/>
          </a:ln>
        </p:spPr>
      </p:sp>
      <p:sp>
        <p:nvSpPr>
          <p:cNvPr id="153" name="Rounded rectangle"/>
          <p:cNvSpPr>
            <a:spLocks/>
          </p:cNvSpPr>
          <p:nvPr/>
        </p:nvSpPr>
        <p:spPr>
          <a:xfrm rot="0">
            <a:off x="457200" y="1691639"/>
            <a:ext cx="8229600" cy="2999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54864" anchor="t" anchorCtr="0" upright="1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1" i="0" u="none" strike="noStrike" kern="1200" cap="none" spc="0" baseline="0">
                <a:solidFill>
                  <a:srgbClr val="452F82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FARMER VALUE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• Earlier alerts guide where to scout</a:t>
            </a:r>
            <a:endParaRPr lang="en-US" altLang="zh-CN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• Zone-level risk supports targeted decisions</a:t>
            </a:r>
            <a:endParaRPr lang="en-US" altLang="zh-CN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• Image + field signals add context</a:t>
            </a:r>
            <a:endParaRPr lang="en-US" altLang="zh-CN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• Farmer remains in control of action</a:t>
            </a:r>
            <a:endParaRPr lang="en-US" altLang="zh-CN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1" i="0" u="none" strike="noStrike" kern="1200" cap="none" spc="0" baseline="0">
                <a:solidFill>
                  <a:srgbClr val="452F82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WHERE IT CAN BE USED</a:t>
            </a:r>
            <a:endParaRPr lang="en-US" altLang="zh-CN" sz="1080" b="1" i="0" u="none" strike="noStrike" kern="1200" cap="none" spc="0" baseline="0">
              <a:solidFill>
                <a:srgbClr val="452F82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• Tomato and other crop monitoring</a:t>
            </a:r>
            <a:endParaRPr lang="en-US" altLang="zh-CN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• Greenhouses and small / medium farms</a:t>
            </a:r>
            <a:endParaRPr lang="en-US" altLang="zh-CN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• Extension services and research</a:t>
            </a:r>
            <a:endParaRPr lang="en-US" altLang="zh-CN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1" i="0" u="none" strike="noStrike" kern="1200" cap="none" spc="0" baseline="0">
                <a:solidFill>
                  <a:srgbClr val="452F82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LONG-TERM OUTCOME</a:t>
            </a:r>
            <a:endParaRPr lang="en-US" altLang="zh-CN" sz="1080" b="1" i="0" u="none" strike="noStrike" kern="1200" cap="none" spc="0" baseline="0">
              <a:solidFill>
                <a:srgbClr val="452F82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362B5B"/>
                </a:solidFill>
                <a:latin typeface="Aptos" pitchFamily="0" charset="0"/>
                <a:ea typeface="宋体" pitchFamily="0" charset="0"/>
                <a:cs typeface="Droid Sans" pitchFamily="0" charset="0"/>
              </a:rPr>
              <a:t>Affordable decision support to protect crops and avoid unnecessary chemical use.</a:t>
            </a:r>
            <a:endParaRPr lang="zh-CN" altLang="en-US" sz="1080" b="0" i="0" u="none" strike="noStrike" kern="1200" cap="none" spc="0" baseline="0">
              <a:solidFill>
                <a:srgbClr val="362B5B"/>
              </a:solidFill>
              <a:latin typeface="Apto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54" name="Rectangle"/>
          <p:cNvSpPr>
            <a:spLocks/>
          </p:cNvSpPr>
          <p:nvPr/>
        </p:nvSpPr>
        <p:spPr>
          <a:xfrm rot="0">
            <a:off x="685800" y="1691639"/>
            <a:ext cx="822960" cy="54861"/>
          </a:xfrm>
          <a:prstGeom prst="rect"/>
          <a:solidFill>
            <a:srgbClr val="7C93F0"/>
          </a:solidFill>
          <a:ln w="12700" cmpd="sng" cap="flat">
            <a:solidFill>
              <a:srgbClr val="7C93F0"/>
            </a:solidFill>
            <a:prstDash val="solid"/>
            <a:round/>
          </a:ln>
        </p:spPr>
      </p:sp>
      <p:sp>
        <p:nvSpPr>
          <p:cNvPr id="155" name="Rectangle"/>
          <p:cNvSpPr>
            <a:spLocks/>
          </p:cNvSpPr>
          <p:nvPr/>
        </p:nvSpPr>
        <p:spPr>
          <a:xfrm rot="0">
            <a:off x="731520" y="1874520"/>
            <a:ext cx="3200400" cy="274319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56" name="Rectangle"/>
          <p:cNvSpPr>
            <a:spLocks noGrp="1"/>
          </p:cNvSpPr>
          <p:nvPr>
            <p:ph type="sldNum"/>
          </p:nvPr>
        </p:nvSpPr>
        <p:spPr>
          <a:xfrm rot="0">
            <a:off x="8321040" y="4864608"/>
            <a:ext cx="365758" cy="27431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900" b="1" i="0" u="none" strike="noStrike" kern="1200" cap="none" spc="0" baseline="0">
                <a:solidFill>
                  <a:srgbClr val="2E1B5B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900" b="0" i="0" u="none" strike="noStrike" kern="1200" cap="none" spc="0" baseline="0">
              <a:solidFill>
                <a:srgbClr val="2E1B5B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205280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box"/>
          <p:cNvSpPr>
            <a:spLocks noGrp="1"/>
          </p:cNvSpPr>
          <p:nvPr>
            <p:ph type="title" idx="120"/>
          </p:nvPr>
        </p:nvSpPr>
        <p:spPr>
          <a:xfrm rot="0">
            <a:off x="457200" y="841248"/>
            <a:ext cx="630936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1B5B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Challenges &amp; Future Scope</a:t>
            </a:r>
            <a:endParaRPr lang="zh-CN" altLang="en-US" sz="2600" b="1" i="0" u="none" strike="noStrike" kern="1200" cap="none" spc="0" baseline="0">
              <a:solidFill>
                <a:srgbClr val="2E1B5B"/>
              </a:solidFill>
              <a:latin typeface="Georgia" pitchFamily="0" charset="0"/>
              <a:ea typeface="Georgia" pitchFamily="0" charset="0"/>
              <a:cs typeface="Georgia" pitchFamily="0" charset="0"/>
            </a:endParaRPr>
          </a:p>
        </p:txBody>
      </p:sp>
      <p:sp>
        <p:nvSpPr>
          <p:cNvPr id="163" name="Rectangle"/>
          <p:cNvSpPr>
            <a:spLocks/>
          </p:cNvSpPr>
          <p:nvPr/>
        </p:nvSpPr>
        <p:spPr>
          <a:xfrm rot="0">
            <a:off x="457200" y="1463040"/>
            <a:ext cx="256030" cy="45720"/>
          </a:xfrm>
          <a:prstGeom prst="rect"/>
          <a:solidFill>
            <a:srgbClr val="7C93F0"/>
          </a:solidFill>
          <a:ln w="12700" cmpd="sng" cap="flat">
            <a:solidFill>
              <a:srgbClr val="7C93F0"/>
            </a:solidFill>
            <a:prstDash val="solid"/>
            <a:round/>
          </a:ln>
        </p:spPr>
      </p:sp>
      <p:sp>
        <p:nvSpPr>
          <p:cNvPr id="164" name="Rectangle"/>
          <p:cNvSpPr>
            <a:spLocks/>
          </p:cNvSpPr>
          <p:nvPr/>
        </p:nvSpPr>
        <p:spPr>
          <a:xfrm rot="0">
            <a:off x="731520" y="1463040"/>
            <a:ext cx="256029" cy="45720"/>
          </a:xfrm>
          <a:prstGeom prst="rect"/>
          <a:solidFill>
            <a:srgbClr val="E8639F"/>
          </a:solidFill>
          <a:ln w="12700" cmpd="sng" cap="flat">
            <a:solidFill>
              <a:srgbClr val="E8639F"/>
            </a:solidFill>
            <a:prstDash val="solid"/>
            <a:round/>
          </a:ln>
        </p:spPr>
      </p:sp>
      <p:sp>
        <p:nvSpPr>
          <p:cNvPr id="165" name="Rectangle"/>
          <p:cNvSpPr>
            <a:spLocks/>
          </p:cNvSpPr>
          <p:nvPr/>
        </p:nvSpPr>
        <p:spPr>
          <a:xfrm rot="0">
            <a:off x="1005839" y="1463040"/>
            <a:ext cx="256029" cy="45720"/>
          </a:xfrm>
          <a:prstGeom prst="rect"/>
          <a:solidFill>
            <a:srgbClr val="5B3BA8"/>
          </a:solidFill>
          <a:ln w="12700" cmpd="sng" cap="flat">
            <a:solidFill>
              <a:srgbClr val="5B3BA8"/>
            </a:solidFill>
            <a:prstDash val="solid"/>
            <a:round/>
          </a:ln>
        </p:spPr>
      </p:sp>
      <p:sp>
        <p:nvSpPr>
          <p:cNvPr id="166" name="Rounded rectangle"/>
          <p:cNvSpPr>
            <a:spLocks/>
          </p:cNvSpPr>
          <p:nvPr/>
        </p:nvSpPr>
        <p:spPr>
          <a:xfrm rot="0">
            <a:off x="457200" y="1691639"/>
            <a:ext cx="8229600" cy="2999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64008" anchor="t" anchorCtr="0" upright="1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CURRENT CHALLENGES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Limited labelled early-stage disease data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Differences in lighting, camera quality and crop varieties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Quantum noise, limited qubits and hardware queue times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Sensor cost, connectivity and field calibration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• Need for agronomist validation before treatment advice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ROADMAP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1. Build a reproducible classical baseline on public data.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2. Train and benchmark a compact VQC in Qiskit.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3. Test noise mitigation and, where feasible, IBM Quantum hardware.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4. Add real sensor data and field-zone mapping.</a:t>
            </a:r>
            <a:endParaRPr lang="en-US" altLang="zh-CN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Droid Sans" pitchFamily="0" charset="0"/>
              </a:rPr>
              <a:t>5. Run a small supervised field pilot with agronomist feedback.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67" name="Rectangle"/>
          <p:cNvSpPr>
            <a:spLocks/>
          </p:cNvSpPr>
          <p:nvPr/>
        </p:nvSpPr>
        <p:spPr>
          <a:xfrm rot="0">
            <a:off x="685800" y="1691639"/>
            <a:ext cx="822960" cy="54861"/>
          </a:xfrm>
          <a:prstGeom prst="rect"/>
          <a:solidFill>
            <a:srgbClr val="E8639F"/>
          </a:solidFill>
          <a:ln w="12700" cmpd="sng" cap="flat">
            <a:solidFill>
              <a:srgbClr val="E8639F"/>
            </a:solidFill>
            <a:prstDash val="solid"/>
            <a:round/>
          </a:ln>
        </p:spPr>
      </p:sp>
      <p:sp>
        <p:nvSpPr>
          <p:cNvPr id="168" name="Rectangle"/>
          <p:cNvSpPr>
            <a:spLocks/>
          </p:cNvSpPr>
          <p:nvPr/>
        </p:nvSpPr>
        <p:spPr>
          <a:xfrm rot="0">
            <a:off x="731520" y="1874520"/>
            <a:ext cx="3200400" cy="274319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69" name="Rectangle"/>
          <p:cNvSpPr>
            <a:spLocks noGrp="1"/>
          </p:cNvSpPr>
          <p:nvPr>
            <p:ph type="sldNum"/>
          </p:nvPr>
        </p:nvSpPr>
        <p:spPr>
          <a:xfrm rot="0">
            <a:off x="8321040" y="4864608"/>
            <a:ext cx="365758" cy="27431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900" b="1" i="0" u="none" strike="noStrike" kern="1200" cap="none" spc="0" baseline="0">
                <a:solidFill>
                  <a:srgbClr val="2E1B5B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900" b="0" i="0" u="none" strike="noStrike" kern="1200" cap="none" spc="0" baseline="0">
              <a:solidFill>
                <a:srgbClr val="2E1B5B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223642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"/>
          <p:cNvSpPr>
            <a:spLocks/>
          </p:cNvSpPr>
          <p:nvPr/>
        </p:nvSpPr>
        <p:spPr>
          <a:xfrm rot="0">
            <a:off x="457200" y="914400"/>
            <a:ext cx="27432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0" cap="none" spc="300" baseline="0">
                <a:solidFill>
                  <a:srgbClr val="E8639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CLOSING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6" name="Rectangle"/>
          <p:cNvSpPr>
            <a:spLocks/>
          </p:cNvSpPr>
          <p:nvPr/>
        </p:nvSpPr>
        <p:spPr>
          <a:xfrm rot="0">
            <a:off x="457200" y="1188720"/>
            <a:ext cx="4754880" cy="1554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1" i="0" u="none" strike="noStrike" kern="1200" cap="none" spc="0" baseline="0">
                <a:solidFill>
                  <a:srgbClr val="2E1B5B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Thank You</a:t>
            </a:r>
            <a:endParaRPr lang="en-US" altLang="zh-CN" sz="4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1" i="0" u="none" strike="noStrike" kern="1200" cap="none" spc="0" baseline="0">
                <a:solidFill>
                  <a:srgbClr val="E8639F"/>
                </a:solidFill>
                <a:latin typeface="Georgia" pitchFamily="0" charset="0"/>
                <a:ea typeface="Georgia" pitchFamily="0" charset="0"/>
                <a:cs typeface="Georgia" pitchFamily="0" charset="0"/>
              </a:rPr>
              <a:t>Questions?</a:t>
            </a:r>
            <a:endParaRPr lang="zh-CN" altLang="en-US" sz="4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7" name="Rectangle"/>
          <p:cNvSpPr>
            <a:spLocks/>
          </p:cNvSpPr>
          <p:nvPr/>
        </p:nvSpPr>
        <p:spPr>
          <a:xfrm rot="0">
            <a:off x="457200" y="2788920"/>
            <a:ext cx="475488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6F7399"/>
                </a:solidFill>
                <a:latin typeface="Calibri" pitchFamily="0" charset="0"/>
                <a:ea typeface="宋体" pitchFamily="0" charset="0"/>
                <a:cs typeface="Droid Sans" pitchFamily="0" charset="0"/>
              </a:rPr>
              <a:t>From leaf signals to smarter, evidence-led farming.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8" name="Rounded rectangle"/>
          <p:cNvSpPr>
            <a:spLocks/>
          </p:cNvSpPr>
          <p:nvPr/>
        </p:nvSpPr>
        <p:spPr>
          <a:xfrm rot="0">
            <a:off x="457200" y="3291840"/>
            <a:ext cx="2286000" cy="530352"/>
          </a:xfrm>
          <a:prstGeom prst="roundRect">
            <a:avLst>
              <a:gd name="adj" fmla="val 10347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64008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5B3BA8"/>
                </a:solidFill>
                <a:latin typeface="Calibri" pitchFamily="0" charset="0"/>
                <a:ea typeface="宋体" pitchFamily="0" charset="0"/>
                <a:cs typeface="Droid Sans" pitchFamily="0" charset="0"/>
              </a:rPr>
              <a:t>https://github.com/vtu-qiskit-fall-fest-2026/vtu-hc-techvora</a:t>
            </a:r>
            <a:endParaRPr lang="zh-CN" altLang="en-US" sz="1150" b="1" i="0" u="none" strike="noStrike" kern="1200" cap="none" spc="0" baseline="0">
              <a:solidFill>
                <a:srgbClr val="5B3BA8"/>
              </a:solidFill>
              <a:latin typeface="Calibri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79" name="Rounded rectangle"/>
          <p:cNvSpPr>
            <a:spLocks/>
          </p:cNvSpPr>
          <p:nvPr/>
        </p:nvSpPr>
        <p:spPr>
          <a:xfrm rot="0">
            <a:off x="2834640" y="3291840"/>
            <a:ext cx="2285998" cy="530352"/>
          </a:xfrm>
          <a:prstGeom prst="roundRect">
            <a:avLst>
              <a:gd name="adj" fmla="val 10347"/>
            </a:avLst>
          </a:prstGeom>
          <a:solidFill>
            <a:srgbClr val="FFFFFF"/>
          </a:solidFill>
          <a:ln w="9525" cmpd="sng" cap="flat">
            <a:solidFill>
              <a:srgbClr val="B8BDEB"/>
            </a:solidFill>
            <a:prstDash val="solid"/>
            <a:round/>
          </a:ln>
        </p:spPr>
        <p:txBody>
          <a:bodyPr vert="horz" wrap="square" lIns="118871" tIns="82296" rIns="118871" bIns="64008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https://drive.google.com/file/d/1fbCdV6apOnRLwFZu3KcEEo6hnriMNcTq/view?usp=drivesdk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pic>
        <p:nvPicPr>
          <p:cNvPr id="180" name="Image" descr="sphere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5486400" y="1097280"/>
            <a:ext cx="3200400" cy="320040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81" name="Image" descr="bird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029200" y="914400"/>
            <a:ext cx="822958" cy="493775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82" name="Image" descr="bird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4754880" y="3840480"/>
            <a:ext cx="548639" cy="329183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83" name="Image" descr="bird3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8229600" y="4023359"/>
            <a:ext cx="457200" cy="27432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466856517"/>
      </p:ext>
    </p:extLst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Qiskit Fall Fest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58</TotalTime>
  <Application>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Mobile phone user</cp:lastModifiedBy>
  <cp:revision>0</cp:revision>
  <dcterms:modified xsi:type="dcterms:W3CDTF">2026-10-23T06:16:38Z</dcterms:modified>
</cp:coreProperties>
</file>